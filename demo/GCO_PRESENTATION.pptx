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94" r:id="rId24"/>
    <p:sldId id="295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0"/>
  </p:normalViewPr>
  <p:slideViewPr>
    <p:cSldViewPr snapToGrid="0">
      <p:cViewPr varScale="1">
        <p:scale>
          <a:sx n="117" d="100"/>
          <a:sy n="117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61047-8825-3043-8F62-C8D08DA6EAFC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48576-F27C-EE4E-AD6D-52734D04A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71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48576-F27C-EE4E-AD6D-52734D04A8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34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16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6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64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71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2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66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66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26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1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5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5D05E32-52AB-914D-8CB3-22FC4AC3CCC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4AD8F8A-AA4B-5142-98B6-792D36BF2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834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Jmevorach/openemr-on-eks" TargetMode="External"/><Relationship Id="rId13" Type="http://schemas.openxmlformats.org/officeDocument/2006/relationships/hyperlink" Target="https://talk.openmrs.org/t/enabling-horizontal-scaling-in-openmrs/44636" TargetMode="External"/><Relationship Id="rId18" Type="http://schemas.openxmlformats.org/officeDocument/2006/relationships/hyperlink" Target="https://aws.amazon.com/blogs/opensource/enabling-scientists-to-collaborate-with-amazon-eks-and-open-science-studio/" TargetMode="External"/><Relationship Id="rId26" Type="http://schemas.openxmlformats.org/officeDocument/2006/relationships/hyperlink" Target="https://www.jacobmevorach.com/" TargetMode="External"/><Relationship Id="rId3" Type="http://schemas.openxmlformats.org/officeDocument/2006/relationships/hyperlink" Target="https://www.ginkgobioworks.com/2020/06/15/shepard-automating-the-creation-of-batch-processing-workflows-in-aws/" TargetMode="External"/><Relationship Id="rId21" Type="http://schemas.openxmlformats.org/officeDocument/2006/relationships/hyperlink" Target="https://github.com/edhlee/FLPedBrain/tree/master" TargetMode="External"/><Relationship Id="rId7" Type="http://schemas.openxmlformats.org/officeDocument/2006/relationships/hyperlink" Target="https://github.com/ginkgobioworks/fluoride" TargetMode="External"/><Relationship Id="rId12" Type="http://schemas.openxmlformats.org/officeDocument/2006/relationships/hyperlink" Target="https://github.com/openemr/openemr-devops/tree/master/docker/openemr/8.1.0" TargetMode="External"/><Relationship Id="rId17" Type="http://schemas.openxmlformats.org/officeDocument/2006/relationships/hyperlink" Target="https://aws.amazon.com/blogs/industries/revolutionize-structural-biology-research-with-aws/" TargetMode="External"/><Relationship Id="rId25" Type="http://schemas.openxmlformats.org/officeDocument/2006/relationships/hyperlink" Target="https://github.com/jmevorach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aws.amazon.com/blogs/hpc/how-novo-nordisk-columbia-university-and-aws-collaborated-to-create-openfold3/)" TargetMode="External"/><Relationship Id="rId20" Type="http://schemas.openxmlformats.org/officeDocument/2006/relationships/hyperlink" Target="https://www.nature.com/articles/s41467-024-51172-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inkgobioworks.com/2021/03/05/fluoride-automating-the-creation-of-microservices-in-aws/" TargetMode="External"/><Relationship Id="rId11" Type="http://schemas.openxmlformats.org/officeDocument/2006/relationships/hyperlink" Target="https://github.com/openemr/openemr-devops/issues?q=state%3Aclosed%20is%3Apr%20author%3Ajmevorach%20is%3Amerged" TargetMode="External"/><Relationship Id="rId24" Type="http://schemas.openxmlformats.org/officeDocument/2006/relationships/hyperlink" Target="https://www.linkedin.com/in/jacob-mevorach-27166a159/" TargetMode="External"/><Relationship Id="rId5" Type="http://schemas.openxmlformats.org/officeDocument/2006/relationships/hyperlink" Target="https://www.ginkgobioworks.com/2021/10/28/infrastructure-as-code-with-morphogen2/" TargetMode="External"/><Relationship Id="rId15" Type="http://schemas.openxmlformats.org/officeDocument/2006/relationships/hyperlink" Target="https://talk.openmrs.org/t/openmrs-platform-roadmap-2025/44759" TargetMode="External"/><Relationship Id="rId23" Type="http://schemas.openxmlformats.org/officeDocument/2006/relationships/hyperlink" Target="https://pf-form.kek.jp/sbrc/seminar20/" TargetMode="External"/><Relationship Id="rId10" Type="http://schemas.openxmlformats.org/officeDocument/2006/relationships/hyperlink" Target="https://github.com/Jmevorach/openemr-static-binary-forge" TargetMode="External"/><Relationship Id="rId19" Type="http://schemas.openxmlformats.org/officeDocument/2006/relationships/hyperlink" Target="https://smce.nasa.gov/oss/" TargetMode="External"/><Relationship Id="rId4" Type="http://schemas.openxmlformats.org/officeDocument/2006/relationships/hyperlink" Target="https://github.com/ginkgobioworks/shepard" TargetMode="External"/><Relationship Id="rId9" Type="http://schemas.openxmlformats.org/officeDocument/2006/relationships/hyperlink" Target="https://github.com/openmrs/openmrs-contrib-cluster-aws-ecs" TargetMode="External"/><Relationship Id="rId14" Type="http://schemas.openxmlformats.org/officeDocument/2006/relationships/hyperlink" Target="https://openmrs.atlassian.net/browse/TRUNK-6299" TargetMode="External"/><Relationship Id="rId22" Type="http://schemas.openxmlformats.org/officeDocument/2006/relationships/hyperlink" Target="https://www.nature.com/collections/ahbeeijjfb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ay1inference.com/global-inference-serv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dklabs/cdk-nag/blob/main/RULES.md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cobmevorach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90DF9-D713-4084-47B4-7A29DAEB1E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Global Capacity Orchestrator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A1776-6C03-3874-7923-6DACC272F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prstClr val="white"/>
                </a:solidFill>
              </a:rPr>
              <a:t>One API. Every Accelerator. Any Region</a:t>
            </a:r>
          </a:p>
          <a:p>
            <a:endParaRPr lang="en-US" b="1" dirty="0">
              <a:solidFill>
                <a:prstClr val="white"/>
              </a:solidFill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3790AE-5360-3585-7BE6-172A9C96F96B}"/>
              </a:ext>
            </a:extLst>
          </p:cNvPr>
          <p:cNvSpPr txBox="1">
            <a:spLocks/>
          </p:cNvSpPr>
          <p:nvPr/>
        </p:nvSpPr>
        <p:spPr>
          <a:xfrm>
            <a:off x="1931891" y="6281835"/>
            <a:ext cx="10080173" cy="3693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azon Ember Display" panose="020F0603020204020204" pitchFamily="34" charset="0"/>
                <a:ea typeface="+mj-ea"/>
                <a:cs typeface="+mj-cs"/>
              </a:rPr>
              <a:t>Last updated 05/29/2026</a:t>
            </a:r>
          </a:p>
        </p:txBody>
      </p:sp>
    </p:spTree>
    <p:extLst>
      <p:ext uri="{BB962C8B-B14F-4D97-AF65-F5344CB8AC3E}">
        <p14:creationId xmlns:p14="http://schemas.microsoft.com/office/powerpoint/2010/main" val="4111144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6337E-BB27-99A7-678F-DAA6AC5C7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145091"/>
            <a:ext cx="10515600" cy="396874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D8F60-0064-B9BB-B176-A955256B5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5860"/>
            <a:ext cx="10515600" cy="5752420"/>
          </a:xfrm>
        </p:spPr>
        <p:txBody>
          <a:bodyPr>
            <a:normAutofit fontScale="92500" lnSpcReduction="10000"/>
          </a:bodyPr>
          <a:lstStyle/>
          <a:p>
            <a:pPr marL="171450" indent="-171450"/>
            <a:r>
              <a:rPr lang="en-US" sz="1300" dirty="0"/>
              <a:t>Background in bioinformatics and machine learning; managed large-scale DevOps for bioinformatics analysis at a synthetic biology company prior to coming to AWS. Also was involved in the production of the Moderna mRNA vaccine for Covid-19 during the pandemic (was categorized an essential worker).</a:t>
            </a:r>
          </a:p>
          <a:p>
            <a:pPr marL="171450" indent="-171450"/>
            <a:r>
              <a:rPr lang="en-US" sz="1300" dirty="0"/>
              <a:t>I’m the creator of the following projects:</a:t>
            </a:r>
          </a:p>
          <a:p>
            <a:pPr marL="457200" lvl="1" indent="-171450"/>
            <a:r>
              <a:rPr lang="en-US" sz="1300" dirty="0"/>
              <a:t>Global Capacity Orchestrator on AWS (the topic of this presentation)</a:t>
            </a:r>
          </a:p>
          <a:p>
            <a:pPr marL="457200" lvl="1" indent="-171450"/>
            <a:r>
              <a:rPr lang="en-US" sz="1300" dirty="0"/>
              <a:t>The bioinformatics workflow framework Shepard (</a:t>
            </a:r>
            <a:r>
              <a:rPr lang="en-US" sz="1300" dirty="0">
                <a:hlinkClick r:id="rId3"/>
              </a:rPr>
              <a:t>blog</a:t>
            </a:r>
            <a:r>
              <a:rPr lang="en-US" sz="1300" dirty="0"/>
              <a:t> / </a:t>
            </a:r>
            <a:r>
              <a:rPr lang="en-US" sz="1300" dirty="0">
                <a:hlinkClick r:id="rId4"/>
              </a:rPr>
              <a:t>code</a:t>
            </a:r>
            <a:r>
              <a:rPr lang="en-US" sz="1300" dirty="0"/>
              <a:t>)</a:t>
            </a:r>
          </a:p>
          <a:p>
            <a:pPr marL="457200" lvl="1" indent="-171450"/>
            <a:r>
              <a:rPr lang="en-US" sz="1300" dirty="0"/>
              <a:t>The infrastructure library Morphogen2 (</a:t>
            </a:r>
            <a:r>
              <a:rPr lang="en-US" sz="1300" dirty="0">
                <a:hlinkClick r:id="rId5"/>
              </a:rPr>
              <a:t>blog</a:t>
            </a:r>
            <a:r>
              <a:rPr lang="en-US" sz="1300" dirty="0"/>
              <a:t>)</a:t>
            </a:r>
          </a:p>
          <a:p>
            <a:pPr marL="457200" lvl="1" indent="-171450"/>
            <a:r>
              <a:rPr lang="en-US" sz="1300" dirty="0"/>
              <a:t>Microservices framework Fluoride (</a:t>
            </a:r>
            <a:r>
              <a:rPr lang="en-US" sz="1300" dirty="0">
                <a:hlinkClick r:id="rId6"/>
              </a:rPr>
              <a:t>blog</a:t>
            </a:r>
            <a:r>
              <a:rPr lang="en-US" sz="1300" dirty="0"/>
              <a:t> / </a:t>
            </a:r>
            <a:r>
              <a:rPr lang="en-US" sz="1300" dirty="0">
                <a:hlinkClick r:id="rId7"/>
              </a:rPr>
              <a:t>code</a:t>
            </a:r>
            <a:r>
              <a:rPr lang="en-US" sz="1300" dirty="0"/>
              <a:t>)</a:t>
            </a:r>
          </a:p>
          <a:p>
            <a:pPr marL="457200" lvl="1" indent="-171450"/>
            <a:r>
              <a:rPr lang="en-US" sz="1300" dirty="0" err="1"/>
              <a:t>OpenEMR</a:t>
            </a:r>
            <a:r>
              <a:rPr lang="en-US" sz="1300" dirty="0"/>
              <a:t> on EKS (</a:t>
            </a:r>
            <a:r>
              <a:rPr lang="en-US" sz="1300" dirty="0">
                <a:hlinkClick r:id="rId8"/>
              </a:rPr>
              <a:t>code</a:t>
            </a:r>
            <a:r>
              <a:rPr lang="en-US" sz="1300" dirty="0"/>
              <a:t>), </a:t>
            </a:r>
            <a:r>
              <a:rPr lang="en-US" sz="1300" dirty="0" err="1"/>
              <a:t>OpenMRS</a:t>
            </a:r>
            <a:r>
              <a:rPr lang="en-US" sz="1300" dirty="0"/>
              <a:t> on ECS (</a:t>
            </a:r>
            <a:r>
              <a:rPr lang="en-US" sz="1300" dirty="0">
                <a:hlinkClick r:id="rId9"/>
              </a:rPr>
              <a:t>code</a:t>
            </a:r>
            <a:r>
              <a:rPr lang="en-US" sz="1300" dirty="0"/>
              <a:t>) , </a:t>
            </a:r>
            <a:r>
              <a:rPr lang="en-US" sz="1300" dirty="0" err="1"/>
              <a:t>OpenEMR</a:t>
            </a:r>
            <a:r>
              <a:rPr lang="en-US" sz="1300" dirty="0"/>
              <a:t> static Binary Forge  (</a:t>
            </a:r>
            <a:r>
              <a:rPr lang="en-US" sz="1300" dirty="0">
                <a:hlinkClick r:id="rId10"/>
              </a:rPr>
              <a:t>code</a:t>
            </a:r>
            <a:r>
              <a:rPr lang="en-US" sz="1300" dirty="0"/>
              <a:t>; allows compilation of </a:t>
            </a:r>
            <a:r>
              <a:rPr lang="en-US" sz="1300" dirty="0" err="1"/>
              <a:t>mostlystatic</a:t>
            </a:r>
            <a:r>
              <a:rPr lang="en-US" sz="1300" dirty="0"/>
              <a:t> PHP interpreters for use with </a:t>
            </a:r>
            <a:r>
              <a:rPr lang="en-US" sz="1300" dirty="0" err="1"/>
              <a:t>OpenEMR</a:t>
            </a:r>
            <a:r>
              <a:rPr lang="en-US" sz="1300" dirty="0"/>
              <a:t> for FreeBSD, Linux, and macOS), and </a:t>
            </a:r>
            <a:r>
              <a:rPr lang="en-US" sz="1300" dirty="0">
                <a:hlinkClick r:id="rId11"/>
              </a:rPr>
              <a:t>multiple contributions </a:t>
            </a:r>
            <a:r>
              <a:rPr lang="en-US" sz="1300" dirty="0"/>
              <a:t>to the source code of </a:t>
            </a:r>
            <a:r>
              <a:rPr lang="en-US" sz="1300" dirty="0" err="1"/>
              <a:t>OpenEMR</a:t>
            </a:r>
            <a:r>
              <a:rPr lang="en-US" sz="1300" dirty="0"/>
              <a:t>  and </a:t>
            </a:r>
            <a:r>
              <a:rPr lang="en-US" sz="1300" dirty="0">
                <a:hlinkClick r:id="rId12"/>
              </a:rPr>
              <a:t>almost all of the code for the current production v8.1.0 version of OpenEMR found in dockerhub</a:t>
            </a:r>
            <a:endParaRPr lang="en-US" sz="1300" dirty="0"/>
          </a:p>
          <a:p>
            <a:pPr marL="457200" lvl="1" indent="-171450"/>
            <a:r>
              <a:rPr lang="en-US" sz="1300" dirty="0" err="1"/>
              <a:t>OpenMRS</a:t>
            </a:r>
            <a:r>
              <a:rPr lang="en-US" sz="1300" dirty="0"/>
              <a:t> on ECS (</a:t>
            </a:r>
            <a:r>
              <a:rPr lang="en-US" sz="1300" dirty="0">
                <a:hlinkClick r:id="rId9"/>
              </a:rPr>
              <a:t>code</a:t>
            </a:r>
            <a:r>
              <a:rPr lang="en-US" sz="1300" dirty="0"/>
              <a:t>) and multiple contributions to the source code of </a:t>
            </a:r>
            <a:r>
              <a:rPr lang="en-US" sz="1300" dirty="0" err="1"/>
              <a:t>OpenMRS</a:t>
            </a:r>
            <a:r>
              <a:rPr lang="en-US" sz="1300" dirty="0"/>
              <a:t> (</a:t>
            </a:r>
            <a:r>
              <a:rPr lang="en-US" sz="1300" dirty="0">
                <a:hlinkClick r:id="rId13"/>
              </a:rPr>
              <a:t>successfully advocated for changes to the backend</a:t>
            </a:r>
            <a:r>
              <a:rPr lang="en-US" sz="1300" dirty="0"/>
              <a:t> to </a:t>
            </a:r>
            <a:r>
              <a:rPr lang="en-US" sz="1300" dirty="0">
                <a:hlinkClick r:id="rId14"/>
              </a:rPr>
              <a:t>enable horizontal scaling </a:t>
            </a:r>
            <a:r>
              <a:rPr lang="en-US" sz="1300" dirty="0"/>
              <a:t> which became a </a:t>
            </a:r>
            <a:r>
              <a:rPr lang="en-US" sz="1300" dirty="0">
                <a:hlinkClick r:id="rId15"/>
              </a:rPr>
              <a:t>roadmap item</a:t>
            </a:r>
            <a:r>
              <a:rPr lang="en-US" sz="1300" dirty="0"/>
              <a:t>)</a:t>
            </a:r>
          </a:p>
          <a:p>
            <a:pPr marL="171450" indent="-171450"/>
            <a:r>
              <a:rPr lang="en-US" sz="1300" dirty="0"/>
              <a:t>While at AWS:</a:t>
            </a:r>
          </a:p>
          <a:p>
            <a:pPr marL="457200" lvl="1" indent="-171450"/>
            <a:r>
              <a:rPr lang="en-US" sz="1300" dirty="0"/>
              <a:t>Though Leadership Champion award winner from the Healthcare and Life Sciences Technical Field Community for 2025 for work with open-source electronic health records on 6 continents.</a:t>
            </a:r>
          </a:p>
          <a:p>
            <a:pPr marL="457200" lvl="1" indent="-171450"/>
            <a:r>
              <a:rPr lang="en-US" sz="1300" dirty="0"/>
              <a:t>4 x finalist for </a:t>
            </a:r>
            <a:r>
              <a:rPr lang="en-US" sz="1300" dirty="0" err="1"/>
              <a:t>HPCWire’s</a:t>
            </a:r>
            <a:r>
              <a:rPr lang="en-US" sz="1300" dirty="0"/>
              <a:t> 2025 Editor’s/People’s choice awards (including 2 different nominations for “Best Use of HPC in Life Sciences”.</a:t>
            </a:r>
          </a:p>
          <a:p>
            <a:pPr marL="457200" lvl="1" indent="-171450"/>
            <a:r>
              <a:rPr lang="en-US" sz="1300" dirty="0"/>
              <a:t>Led AWS’s collaboration with Columbia University and Novo Nordisk in making Openfold3; the most advanced open-source protein folding model (</a:t>
            </a:r>
            <a:r>
              <a:rPr lang="en-US" sz="1300" dirty="0">
                <a:hlinkClick r:id="rId16"/>
              </a:rPr>
              <a:t>blog</a:t>
            </a:r>
            <a:r>
              <a:rPr lang="en-US" sz="1300" dirty="0"/>
              <a:t>)</a:t>
            </a:r>
          </a:p>
          <a:p>
            <a:pPr marL="457200" lvl="1" indent="-171450"/>
            <a:r>
              <a:rPr lang="en-US" sz="1300" dirty="0"/>
              <a:t>Led AWS’s collaboration with Harvard Medical School in democratizing access to structural biology tools critical for drug discovery (</a:t>
            </a:r>
            <a:r>
              <a:rPr lang="en-US" sz="1300" dirty="0">
                <a:hlinkClick r:id="rId17"/>
              </a:rPr>
              <a:t>blog</a:t>
            </a:r>
            <a:r>
              <a:rPr lang="en-US" sz="1300" dirty="0"/>
              <a:t>) </a:t>
            </a:r>
          </a:p>
          <a:p>
            <a:pPr marL="457200" lvl="1" indent="-171450"/>
            <a:r>
              <a:rPr lang="en-US" sz="1300" dirty="0"/>
              <a:t>Led AWS’s collaboration with NASA and </a:t>
            </a:r>
            <a:r>
              <a:rPr lang="en-US" sz="1300" dirty="0" err="1"/>
              <a:t>Navteca</a:t>
            </a:r>
            <a:r>
              <a:rPr lang="en-US" sz="1300" dirty="0"/>
              <a:t> in creating and open-sourcing “Open Science Studio” (</a:t>
            </a:r>
            <a:r>
              <a:rPr lang="en-US" sz="1300" dirty="0">
                <a:hlinkClick r:id="rId18"/>
              </a:rPr>
              <a:t>blog</a:t>
            </a:r>
            <a:r>
              <a:rPr lang="en-US" sz="1300" dirty="0"/>
              <a:t>; first author; try for free at </a:t>
            </a:r>
            <a:r>
              <a:rPr lang="en-US" sz="1300" dirty="0">
                <a:hlinkClick r:id="rId19"/>
              </a:rPr>
              <a:t>https://smce.nasa.gov/oss/</a:t>
            </a:r>
            <a:r>
              <a:rPr lang="en-US" sz="1300" dirty="0"/>
              <a:t> )</a:t>
            </a:r>
          </a:p>
          <a:p>
            <a:pPr marL="457200" lvl="1" indent="-171450"/>
            <a:r>
              <a:rPr lang="en-US" sz="1300" dirty="0"/>
              <a:t>Part of AWS’s collaboration with Stanford University’s Artificial Intelligence in Medical Imaging Institute where we developed new techniques for privacy-preserving federated learning and then applied those techniques to create an AI model that diagnoses and segments pediatric brain tumors. (</a:t>
            </a:r>
            <a:r>
              <a:rPr lang="en-US" sz="1300" dirty="0">
                <a:hlinkClick r:id="rId20"/>
              </a:rPr>
              <a:t>publication</a:t>
            </a:r>
            <a:r>
              <a:rPr lang="en-US" sz="1300" dirty="0"/>
              <a:t>/</a:t>
            </a:r>
            <a:r>
              <a:rPr lang="en-US" sz="1300" dirty="0">
                <a:hlinkClick r:id="rId21"/>
              </a:rPr>
              <a:t>code</a:t>
            </a:r>
            <a:r>
              <a:rPr lang="en-US" sz="1300" dirty="0"/>
              <a:t>)</a:t>
            </a:r>
          </a:p>
          <a:p>
            <a:pPr marL="800100" lvl="2" indent="-171450"/>
            <a:r>
              <a:rPr lang="en-US" sz="1300" dirty="0"/>
              <a:t>This work was published in </a:t>
            </a:r>
            <a:r>
              <a:rPr lang="en-US" sz="1300" dirty="0">
                <a:hlinkClick r:id="rId20"/>
              </a:rPr>
              <a:t>Nature Communications</a:t>
            </a:r>
            <a:r>
              <a:rPr lang="en-US" sz="1300" dirty="0"/>
              <a:t> and then featured Nature’s “</a:t>
            </a:r>
            <a:r>
              <a:rPr lang="en-US" sz="1300" dirty="0">
                <a:hlinkClick r:id="rId22"/>
              </a:rPr>
              <a:t>Applications of Artificial Intelligence in Cancer</a:t>
            </a:r>
            <a:r>
              <a:rPr lang="en-US" sz="1300" dirty="0"/>
              <a:t>” collection for “significantly [moving] forward the rapidly evolving field of cancer research” and has been cited over 30 times  and was the topic of the my presentation for the </a:t>
            </a:r>
            <a:r>
              <a:rPr lang="en-US" sz="1300" dirty="0">
                <a:hlinkClick r:id="rId23"/>
              </a:rPr>
              <a:t>20th SBRC International Cryo-EM Seminar </a:t>
            </a:r>
            <a:r>
              <a:rPr lang="en-US" sz="1300" dirty="0"/>
              <a:t>entitled “</a:t>
            </a:r>
            <a:r>
              <a:rPr lang="en-US" sz="1300" i="1" dirty="0"/>
              <a:t>Using Federated Learning and AI to Treat Rare Disease and Cancer</a:t>
            </a:r>
            <a:r>
              <a:rPr lang="en-US" sz="1300" dirty="0"/>
              <a:t>”  hosted by “The High Energy Accelerator Research Organization” in Japan.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8C7C3-23C6-2425-4169-F738F003A6AA}"/>
              </a:ext>
            </a:extLst>
          </p:cNvPr>
          <p:cNvSpPr txBox="1"/>
          <p:nvPr/>
        </p:nvSpPr>
        <p:spPr>
          <a:xfrm>
            <a:off x="9470571" y="6112782"/>
            <a:ext cx="2721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defTabSz="914400">
              <a:defRPr/>
            </a:pPr>
            <a:r>
              <a:rPr lang="en-US" sz="1200" dirty="0">
                <a:solidFill>
                  <a:srgbClr val="FFFFFF"/>
                </a:solidFill>
                <a:latin typeface="Amazon Ember Display"/>
                <a:hlinkClick r:id="rId24"/>
              </a:rPr>
              <a:t>LinkedIn</a:t>
            </a:r>
            <a:endParaRPr lang="en-US" sz="1200" dirty="0">
              <a:solidFill>
                <a:srgbClr val="FFFFFF"/>
              </a:solidFill>
              <a:latin typeface="Amazon Ember Display"/>
            </a:endParaRPr>
          </a:p>
          <a:p>
            <a:pPr lvl="0" algn="r" defTabSz="914400">
              <a:defRPr/>
            </a:pPr>
            <a:r>
              <a:rPr lang="en-US" sz="1200" dirty="0">
                <a:solidFill>
                  <a:srgbClr val="FFFFFF"/>
                </a:solidFill>
                <a:latin typeface="Amazon Ember Display"/>
                <a:hlinkClick r:id="rId25"/>
              </a:rPr>
              <a:t>GitHub</a:t>
            </a:r>
            <a:endParaRPr lang="en-US" sz="1200" dirty="0">
              <a:solidFill>
                <a:srgbClr val="FFFFFF"/>
              </a:solidFill>
              <a:latin typeface="Amazon Ember Display"/>
            </a:endParaRPr>
          </a:p>
          <a:p>
            <a:pPr lvl="0" algn="r" defTabSz="914400">
              <a:defRPr/>
            </a:pPr>
            <a:r>
              <a:rPr lang="en-US" sz="1200" dirty="0">
                <a:solidFill>
                  <a:srgbClr val="FFFFFF"/>
                </a:solidFill>
                <a:latin typeface="Amazon Ember Display"/>
                <a:hlinkClick r:id="rId26"/>
              </a:rPr>
              <a:t>https://www.jacobmevorach.com/</a:t>
            </a:r>
            <a:r>
              <a:rPr lang="en-US" sz="1200" dirty="0">
                <a:solidFill>
                  <a:srgbClr val="FFFFFF"/>
                </a:solidFill>
                <a:latin typeface="Amazon Ember Display"/>
              </a:rPr>
              <a:t> </a:t>
            </a:r>
          </a:p>
          <a:p>
            <a:pPr algn="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61602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2F46F-77F2-1D30-05E3-F2140FE14636}"/>
              </a:ext>
            </a:extLst>
          </p:cNvPr>
          <p:cNvSpPr txBox="1">
            <a:spLocks/>
          </p:cNvSpPr>
          <p:nvPr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00">
              <a:defRPr/>
            </a:pPr>
            <a:fld id="{EB4B8DE2-A4E8-46E4-8BBF-D75455EFF32C}" type="slidenum">
              <a:rPr lang="en-US" sz="900" smtClean="0">
                <a:solidFill>
                  <a:prstClr val="white"/>
                </a:solidFill>
              </a:rPr>
              <a:pPr algn="r" defTabSz="914400">
                <a:defRPr/>
              </a:pPr>
              <a:t>3</a:t>
            </a:fld>
            <a:endParaRPr lang="en-US" sz="900" dirty="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A90B8-1967-23DF-CF99-43D735ED7820}"/>
              </a:ext>
            </a:extLst>
          </p:cNvPr>
          <p:cNvSpPr txBox="1"/>
          <p:nvPr/>
        </p:nvSpPr>
        <p:spPr>
          <a:xfrm>
            <a:off x="2072640" y="422556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Agenda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9DF44C-0D4F-6A17-B98D-F3E9DFC4138F}"/>
              </a:ext>
            </a:extLst>
          </p:cNvPr>
          <p:cNvSpPr/>
          <p:nvPr/>
        </p:nvSpPr>
        <p:spPr>
          <a:xfrm>
            <a:off x="2072640" y="1016916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D355C6-690B-E7CC-4B8C-F5B0B1841B20}"/>
              </a:ext>
            </a:extLst>
          </p:cNvPr>
          <p:cNvSpPr/>
          <p:nvPr/>
        </p:nvSpPr>
        <p:spPr>
          <a:xfrm>
            <a:off x="2072640" y="2017791"/>
            <a:ext cx="502920" cy="411480"/>
          </a:xfrm>
          <a:prstGeom prst="roundRect">
            <a:avLst/>
          </a:prstGeom>
          <a:solidFill>
            <a:srgbClr val="232F3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0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38039-230F-6AE9-3929-4F48C3932DAB}"/>
              </a:ext>
            </a:extLst>
          </p:cNvPr>
          <p:cNvSpPr txBox="1"/>
          <p:nvPr/>
        </p:nvSpPr>
        <p:spPr>
          <a:xfrm>
            <a:off x="2758440" y="1999503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Solution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05664-9CCB-9FFE-E986-4D32148B1F79}"/>
              </a:ext>
            </a:extLst>
          </p:cNvPr>
          <p:cNvSpPr txBox="1"/>
          <p:nvPr/>
        </p:nvSpPr>
        <p:spPr>
          <a:xfrm>
            <a:off x="2758440" y="2292111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Architecture: GA → API Gateway → EKS Auto Mode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FF60EA-2EBB-5276-D5ED-59F1C2740391}"/>
              </a:ext>
            </a:extLst>
          </p:cNvPr>
          <p:cNvSpPr txBox="1"/>
          <p:nvPr/>
        </p:nvSpPr>
        <p:spPr>
          <a:xfrm>
            <a:off x="8382000" y="2063511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>
                <a:solidFill>
                  <a:prstClr val="white"/>
                </a:solidFill>
              </a:rPr>
              <a:t>1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0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min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4C6D13D-E889-785D-1C8C-90591D2729A6}"/>
              </a:ext>
            </a:extLst>
          </p:cNvPr>
          <p:cNvSpPr/>
          <p:nvPr/>
        </p:nvSpPr>
        <p:spPr>
          <a:xfrm>
            <a:off x="2072640" y="4304893"/>
            <a:ext cx="502920" cy="411480"/>
          </a:xfrm>
          <a:prstGeom prst="round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prstClr val="white"/>
                </a:solidFill>
              </a:rPr>
              <a:t>04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9F39CE-C3AA-D3FE-F558-BD21DA71111C}"/>
              </a:ext>
            </a:extLst>
          </p:cNvPr>
          <p:cNvSpPr txBox="1"/>
          <p:nvPr/>
        </p:nvSpPr>
        <p:spPr>
          <a:xfrm>
            <a:off x="2758440" y="4286605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Live Demo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&amp; FAQ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25F4FD-666B-3F73-2C30-5D67F35682FA}"/>
              </a:ext>
            </a:extLst>
          </p:cNvPr>
          <p:cNvSpPr txBox="1"/>
          <p:nvPr/>
        </p:nvSpPr>
        <p:spPr>
          <a:xfrm>
            <a:off x="2758440" y="4579213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CLI deployment, job submission, autoscaling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5C5FC6-F82F-F6EE-86EE-24483A608B37}"/>
              </a:ext>
            </a:extLst>
          </p:cNvPr>
          <p:cNvSpPr txBox="1"/>
          <p:nvPr/>
        </p:nvSpPr>
        <p:spPr>
          <a:xfrm>
            <a:off x="8382000" y="4350613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10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min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099EB01-6E49-CFD4-C412-38973D3AA833}"/>
              </a:ext>
            </a:extLst>
          </p:cNvPr>
          <p:cNvSpPr/>
          <p:nvPr/>
        </p:nvSpPr>
        <p:spPr>
          <a:xfrm>
            <a:off x="2072640" y="2799159"/>
            <a:ext cx="502920" cy="411480"/>
          </a:xfrm>
          <a:prstGeom prst="roundRect">
            <a:avLst/>
          </a:prstGeom>
          <a:solidFill>
            <a:srgbClr val="232F3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0</a:t>
            </a:r>
            <a:r>
              <a:rPr lang="en-US" sz="1600" b="1" kern="0" dirty="0">
                <a:solidFill>
                  <a:prstClr val="white"/>
                </a:solidFill>
              </a:rPr>
              <a:t>2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D93E95-4511-6833-D799-0172E78A7E9A}"/>
              </a:ext>
            </a:extLst>
          </p:cNvPr>
          <p:cNvSpPr txBox="1"/>
          <p:nvPr/>
        </p:nvSpPr>
        <p:spPr>
          <a:xfrm>
            <a:off x="2758440" y="2824415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Auto Routing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6182D7-3033-3C67-4E0C-5DF202D21F2E}"/>
              </a:ext>
            </a:extLst>
          </p:cNvPr>
          <p:cNvSpPr txBox="1"/>
          <p:nvPr/>
        </p:nvSpPr>
        <p:spPr>
          <a:xfrm>
            <a:off x="2758440" y="312011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Getting workloads where they need to be automatically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C3D8D8-50D7-2E42-1851-8884DF1313AA}"/>
              </a:ext>
            </a:extLst>
          </p:cNvPr>
          <p:cNvSpPr txBox="1"/>
          <p:nvPr/>
        </p:nvSpPr>
        <p:spPr>
          <a:xfrm>
            <a:off x="8382000" y="2888423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10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min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FB64319-16B8-AEE0-98DB-50FEEA212CD5}"/>
              </a:ext>
            </a:extLst>
          </p:cNvPr>
          <p:cNvSpPr/>
          <p:nvPr/>
        </p:nvSpPr>
        <p:spPr>
          <a:xfrm>
            <a:off x="2072640" y="3598059"/>
            <a:ext cx="502920" cy="411480"/>
          </a:xfrm>
          <a:prstGeom prst="roundRect">
            <a:avLst/>
          </a:prstGeom>
          <a:solidFill>
            <a:srgbClr val="232F3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03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1F348C-6B95-DA1D-9EEB-D7EFCB6DE684}"/>
              </a:ext>
            </a:extLst>
          </p:cNvPr>
          <p:cNvSpPr txBox="1"/>
          <p:nvPr/>
        </p:nvSpPr>
        <p:spPr>
          <a:xfrm>
            <a:off x="2758440" y="3579771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white"/>
                </a:solidFill>
              </a:rPr>
              <a:t>GCO MCP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5C5070-21A5-99DB-7276-D71F16A690EF}"/>
              </a:ext>
            </a:extLst>
          </p:cNvPr>
          <p:cNvSpPr txBox="1"/>
          <p:nvPr/>
        </p:nvSpPr>
        <p:spPr>
          <a:xfrm>
            <a:off x="2758440" y="3872379"/>
            <a:ext cx="4926874" cy="2743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prstClr val="white"/>
                </a:solidFill>
              </a:rPr>
              <a:t>Running jobs and deploying inference using nothing but natural language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AE3CC3-4C91-1B91-2C3D-65FA75DEC724}"/>
              </a:ext>
            </a:extLst>
          </p:cNvPr>
          <p:cNvSpPr txBox="1"/>
          <p:nvPr/>
        </p:nvSpPr>
        <p:spPr>
          <a:xfrm>
            <a:off x="8382000" y="3643779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10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min</a:t>
            </a:r>
          </a:p>
        </p:txBody>
      </p:sp>
    </p:spTree>
    <p:extLst>
      <p:ext uri="{BB962C8B-B14F-4D97-AF65-F5344CB8AC3E}">
        <p14:creationId xmlns:p14="http://schemas.microsoft.com/office/powerpoint/2010/main" val="3845675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EE298D-4B93-5238-6BB3-383A2B020BF6}"/>
              </a:ext>
            </a:extLst>
          </p:cNvPr>
          <p:cNvSpPr/>
          <p:nvPr/>
        </p:nvSpPr>
        <p:spPr>
          <a:xfrm>
            <a:off x="1524000" y="0"/>
            <a:ext cx="32004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F390B-98E9-9BB9-5A13-DBE1B8EA2B8B}"/>
              </a:ext>
            </a:extLst>
          </p:cNvPr>
          <p:cNvSpPr txBox="1"/>
          <p:nvPr/>
        </p:nvSpPr>
        <p:spPr>
          <a:xfrm>
            <a:off x="1524000" y="2011680"/>
            <a:ext cx="3200400" cy="137160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600" b="1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ea typeface="+mn-ea"/>
                <a:cs typeface="+mn-cs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22503-08B0-F90D-83F0-B4D7B0427D41}"/>
              </a:ext>
            </a:extLst>
          </p:cNvPr>
          <p:cNvSpPr txBox="1"/>
          <p:nvPr/>
        </p:nvSpPr>
        <p:spPr>
          <a:xfrm>
            <a:off x="5181600" y="22860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Solution Overview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ECF0A-12E4-5DC1-8F7A-1A77E247D53D}"/>
              </a:ext>
            </a:extLst>
          </p:cNvPr>
          <p:cNvSpPr txBox="1"/>
          <p:nvPr/>
        </p:nvSpPr>
        <p:spPr>
          <a:xfrm>
            <a:off x="5181599" y="3108960"/>
            <a:ext cx="6113929" cy="45720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Addressing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GPU capacity constraints &amp; multi-region complexity</a:t>
            </a:r>
          </a:p>
        </p:txBody>
      </p:sp>
    </p:spTree>
    <p:extLst>
      <p:ext uri="{BB962C8B-B14F-4D97-AF65-F5344CB8AC3E}">
        <p14:creationId xmlns:p14="http://schemas.microsoft.com/office/powerpoint/2010/main" val="213227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F3D7CD-B4F9-23E4-018D-98826C74A454}"/>
              </a:ext>
            </a:extLst>
          </p:cNvPr>
          <p:cNvSpPr txBox="1"/>
          <p:nvPr/>
        </p:nvSpPr>
        <p:spPr>
          <a:xfrm>
            <a:off x="439782" y="191286"/>
            <a:ext cx="10559911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The Problem: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Finding and best utilizing GPU Capacity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6CC0AE-C12B-034D-DCCB-D26239748A7A}"/>
              </a:ext>
            </a:extLst>
          </p:cNvPr>
          <p:cNvSpPr/>
          <p:nvPr/>
        </p:nvSpPr>
        <p:spPr>
          <a:xfrm>
            <a:off x="548640" y="1240282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B0AC6C-198F-B29E-4408-2EF69E0F3275}"/>
              </a:ext>
            </a:extLst>
          </p:cNvPr>
          <p:cNvSpPr txBox="1"/>
          <p:nvPr/>
        </p:nvSpPr>
        <p:spPr>
          <a:xfrm>
            <a:off x="548640" y="1515503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What customers are telling us: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0660926-FCE0-BF0A-EF14-689D5558E43D}"/>
              </a:ext>
            </a:extLst>
          </p:cNvPr>
          <p:cNvSpPr/>
          <p:nvPr/>
        </p:nvSpPr>
        <p:spPr>
          <a:xfrm>
            <a:off x="1932940" y="2108200"/>
            <a:ext cx="8046720" cy="347472"/>
          </a:xfrm>
          <a:prstGeom prst="round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299D3-90B2-0891-5CD1-DBF6E73B4720}"/>
              </a:ext>
            </a:extLst>
          </p:cNvPr>
          <p:cNvSpPr txBox="1"/>
          <p:nvPr/>
        </p:nvSpPr>
        <p:spPr>
          <a:xfrm>
            <a:off x="2161540" y="2144776"/>
            <a:ext cx="7589520" cy="2743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ea typeface="+mn-ea"/>
                <a:cs typeface="+mn-cs"/>
              </a:rPr>
              <a:t>"We can't get GPU capacity in our primary region"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94FA219-E9AA-80A5-5032-3290D449818F}"/>
              </a:ext>
            </a:extLst>
          </p:cNvPr>
          <p:cNvSpPr/>
          <p:nvPr/>
        </p:nvSpPr>
        <p:spPr>
          <a:xfrm>
            <a:off x="1932940" y="2519680"/>
            <a:ext cx="8046720" cy="347472"/>
          </a:xfrm>
          <a:prstGeom prst="round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37C55-7B1A-45DD-C049-43971B1350FC}"/>
              </a:ext>
            </a:extLst>
          </p:cNvPr>
          <p:cNvSpPr txBox="1"/>
          <p:nvPr/>
        </p:nvSpPr>
        <p:spPr>
          <a:xfrm>
            <a:off x="2161540" y="2556256"/>
            <a:ext cx="7589520" cy="2743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ea typeface="+mn-ea"/>
                <a:cs typeface="+mn-cs"/>
              </a:rPr>
              <a:t>"Managing multi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ea typeface="+mn-ea"/>
                <a:cs typeface="+mn-cs"/>
              </a:rPr>
              <a:t>-region infra </a:t>
            </a: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ea typeface="+mn-ea"/>
                <a:cs typeface="+mn-cs"/>
              </a:rPr>
              <a:t>is a nightmare"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946C8ED-E6A4-8D76-EAD2-E69AFF990715}"/>
              </a:ext>
            </a:extLst>
          </p:cNvPr>
          <p:cNvSpPr/>
          <p:nvPr/>
        </p:nvSpPr>
        <p:spPr>
          <a:xfrm>
            <a:off x="1932940" y="2931160"/>
            <a:ext cx="8046720" cy="347472"/>
          </a:xfrm>
          <a:prstGeom prst="round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42BBFA-3DFD-7A4B-EF55-C0731C39B507}"/>
              </a:ext>
            </a:extLst>
          </p:cNvPr>
          <p:cNvSpPr txBox="1"/>
          <p:nvPr/>
        </p:nvSpPr>
        <p:spPr>
          <a:xfrm>
            <a:off x="2161540" y="2967736"/>
            <a:ext cx="7589520" cy="2743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ea typeface="+mn-ea"/>
                <a:cs typeface="+mn-cs"/>
              </a:rPr>
              <a:t>"Our teams spend more time on infrastructure than ML"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A69322-62BD-61E3-E933-D6C11D52BDF3}"/>
              </a:ext>
            </a:extLst>
          </p:cNvPr>
          <p:cNvSpPr/>
          <p:nvPr/>
        </p:nvSpPr>
        <p:spPr>
          <a:xfrm>
            <a:off x="1932940" y="3342640"/>
            <a:ext cx="8046720" cy="347472"/>
          </a:xfrm>
          <a:prstGeom prst="round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A2FEF2-C57F-D781-1277-530A65526F5F}"/>
              </a:ext>
            </a:extLst>
          </p:cNvPr>
          <p:cNvSpPr txBox="1"/>
          <p:nvPr/>
        </p:nvSpPr>
        <p:spPr>
          <a:xfrm>
            <a:off x="2161540" y="3379216"/>
            <a:ext cx="7589520" cy="2743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ea typeface="+mn-ea"/>
                <a:cs typeface="+mn-cs"/>
              </a:rPr>
              <a:t>"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ea typeface="+mn-ea"/>
                <a:cs typeface="+mn-cs"/>
              </a:rPr>
              <a:t>How can I serve multi-region inference with automatic failover?</a:t>
            </a: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ea typeface="+mn-ea"/>
                <a:cs typeface="+mn-cs"/>
              </a:rPr>
              <a:t>"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858CDBD-B71D-BC40-3007-BA00F1C516CB}"/>
              </a:ext>
            </a:extLst>
          </p:cNvPr>
          <p:cNvSpPr/>
          <p:nvPr/>
        </p:nvSpPr>
        <p:spPr>
          <a:xfrm>
            <a:off x="1932940" y="3754120"/>
            <a:ext cx="8046720" cy="347472"/>
          </a:xfrm>
          <a:prstGeom prst="roundRect">
            <a:avLst/>
          </a:prstGeom>
          <a:solidFill>
            <a:srgbClr val="F5F7F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B680A8-F847-05C7-FD52-9BC2A7976B2A}"/>
              </a:ext>
            </a:extLst>
          </p:cNvPr>
          <p:cNvSpPr txBox="1"/>
          <p:nvPr/>
        </p:nvSpPr>
        <p:spPr>
          <a:xfrm>
            <a:off x="2161540" y="3790696"/>
            <a:ext cx="7589520" cy="2743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i="1" dirty="0">
                <a:solidFill>
                  <a:srgbClr val="3C3C3C"/>
                </a:solidFill>
              </a:rPr>
              <a:t>“How can I scale my workload?”</a:t>
            </a:r>
            <a:endParaRPr kumimoji="0" sz="1300" b="0" i="1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857F8A-357F-FFDC-4B75-3D4DC55C14FD}"/>
              </a:ext>
            </a:extLst>
          </p:cNvPr>
          <p:cNvSpPr txBox="1"/>
          <p:nvPr/>
        </p:nvSpPr>
        <p:spPr>
          <a:xfrm>
            <a:off x="1246771" y="4555466"/>
            <a:ext cx="9419057" cy="45720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GPU demand is outpacing supply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 and there’s capacity out there that customers don’t know about or can’t use easily that can help us meet this challenge.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FFFFFF"/>
              </a:solidFill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What </a:t>
            </a:r>
            <a:r>
              <a:rPr lang="en-US" sz="1600" dirty="0">
                <a:solidFill>
                  <a:srgbClr val="FFFFFF"/>
                </a:solidFill>
              </a:rPr>
              <a:t>could be accomplished if we always knew how to find capacity and, when we did find it, how to immediately put it to use?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18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8D6914-C535-E3D2-EB79-0B2F38466B6D}"/>
              </a:ext>
            </a:extLst>
          </p:cNvPr>
          <p:cNvSpPr txBox="1"/>
          <p:nvPr/>
        </p:nvSpPr>
        <p:spPr>
          <a:xfrm>
            <a:off x="255494" y="110671"/>
            <a:ext cx="8761207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The Solution: Uber but for compute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5E4294-7850-1487-EF58-BF01A6C40F3C}"/>
              </a:ext>
            </a:extLst>
          </p:cNvPr>
          <p:cNvSpPr/>
          <p:nvPr/>
        </p:nvSpPr>
        <p:spPr>
          <a:xfrm>
            <a:off x="391758" y="68501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805F47-D8B6-6BC3-0F6B-823D436E4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454700"/>
              </p:ext>
            </p:extLst>
          </p:nvPr>
        </p:nvGraphicFramePr>
        <p:xfrm>
          <a:off x="2072639" y="2537823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+mn-lt"/>
                        </a:rPr>
                        <a:t>Challenge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Traditional Approach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With </a:t>
                      </a:r>
                      <a:r>
                        <a:rPr lang="en-US" dirty="0">
                          <a:latin typeface="+mn-lt"/>
                        </a:rPr>
                        <a:t>Global Capacity Orchestrator</a:t>
                      </a:r>
                      <a:endParaRPr dirty="0">
                        <a:latin typeface="+mn-lt"/>
                      </a:endParaRPr>
                    </a:p>
                  </a:txBody>
                  <a:tcPr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GPU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Manually check each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>
                          <a:latin typeface="+mn-lt"/>
                        </a:rPr>
                        <a:t>Auto-routes to available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>
                          <a:latin typeface="+mn-lt"/>
                        </a:rPr>
                        <a:t>Node Provisioning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>
                          <a:latin typeface="+mn-lt"/>
                        </a:rPr>
                        <a:t>Pre-provision or wait for scaling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EKS Auto Mode provisions on-demand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>
                          <a:latin typeface="+mn-lt"/>
                        </a:rPr>
                        <a:t>Multi-Region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Manage clusters separately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Single API, automatic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>
                          <a:latin typeface="+mn-lt"/>
                        </a:rPr>
                        <a:t>Authentication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>
                          <a:latin typeface="+mn-lt"/>
                        </a:rPr>
                        <a:t>Configure per-cluster kubeconfig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IAM-based, existing AWS credentials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>
                          <a:latin typeface="+mn-lt"/>
                        </a:rPr>
                        <a:t>Job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>
                          <a:latin typeface="+mn-lt"/>
                        </a:rPr>
                        <a:t>Lost when pods terminate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Persisted to EFS / </a:t>
                      </a:r>
                      <a:r>
                        <a:rPr dirty="0" err="1">
                          <a:latin typeface="+mn-lt"/>
                        </a:rPr>
                        <a:t>FSx</a:t>
                      </a:r>
                      <a:r>
                        <a:rPr dirty="0">
                          <a:latin typeface="+mn-lt"/>
                        </a:rPr>
                        <a:t>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Failover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Manual intervention required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+mn-lt"/>
                        </a:rPr>
                        <a:t>Automatic via Global Accelerator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F2983A-1F4F-A616-A47A-1FB39CEC7ABE}"/>
              </a:ext>
            </a:extLst>
          </p:cNvPr>
          <p:cNvSpPr txBox="1"/>
          <p:nvPr/>
        </p:nvSpPr>
        <p:spPr>
          <a:xfrm>
            <a:off x="1017814" y="1394097"/>
            <a:ext cx="10156371" cy="907868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How much better would life be if we knew exactly where capacity was available and could use it immediately?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632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BFC532B-E782-403C-A0E5-82D3A002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" y="309574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Global Capacity Orchestrator?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822B178-8426-A5A3-EBB2-E15BF8D7CF1E}"/>
              </a:ext>
            </a:extLst>
          </p:cNvPr>
          <p:cNvSpPr txBox="1">
            <a:spLocks/>
          </p:cNvSpPr>
          <p:nvPr/>
        </p:nvSpPr>
        <p:spPr>
          <a:xfrm>
            <a:off x="714503" y="1220833"/>
            <a:ext cx="7217229" cy="52622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00" dirty="0"/>
              <a:t>Global Capacity Orchestrator is a multi-region compute orchestration platform</a:t>
            </a:r>
          </a:p>
          <a:p>
            <a:pPr marL="285750" indent="-285750"/>
            <a:r>
              <a:rPr lang="en-US" sz="1800" dirty="0"/>
              <a:t>You get the complete source code that consists of …</a:t>
            </a:r>
          </a:p>
          <a:p>
            <a:pPr marL="742950" lvl="1" indent="-285750"/>
            <a:r>
              <a:rPr lang="en-US" sz="1800" dirty="0"/>
              <a:t>Infrastructure written in pure CDK</a:t>
            </a:r>
          </a:p>
          <a:p>
            <a:pPr marL="742950" lvl="1" indent="-285750"/>
            <a:r>
              <a:rPr lang="en-US" sz="1800" dirty="0"/>
              <a:t>A well documented API that uses IAM authentication</a:t>
            </a:r>
          </a:p>
          <a:p>
            <a:pPr marL="742950" lvl="1" indent="-285750"/>
            <a:r>
              <a:rPr lang="en-US" sz="1800" dirty="0"/>
              <a:t>An accompanying CLI that makes using the API easy</a:t>
            </a:r>
          </a:p>
          <a:p>
            <a:pPr marL="285750" indent="-285750"/>
            <a:r>
              <a:rPr lang="en-US" sz="1800" dirty="0"/>
              <a:t>Capable of scaling compute across 38+ regions to over 27 million GPUs (theoretical maximum; in practice you’ll be limited by the actual compute available at any one time)</a:t>
            </a:r>
          </a:p>
          <a:p>
            <a:pPr marL="285750" indent="-285750"/>
            <a:r>
              <a:rPr lang="en-US" sz="1800" dirty="0"/>
              <a:t>Capable of running complex </a:t>
            </a:r>
            <a:r>
              <a:rPr lang="en-US" sz="1800" dirty="0" err="1"/>
              <a:t>worfklows</a:t>
            </a:r>
            <a:r>
              <a:rPr lang="en-US" sz="1800" dirty="0"/>
              <a:t>, distributed training and above all inference in the form of multi-region, distributed inference endpoints with automatic failover and centralized management. </a:t>
            </a:r>
          </a:p>
          <a:p>
            <a:pPr marL="285750" indent="-285750"/>
            <a:r>
              <a:rPr lang="en-US" sz="1800" dirty="0"/>
              <a:t>All metrics from every region flow into a single CloudWatch dashboard so monitoring can be done from a single pane of glass.</a:t>
            </a:r>
          </a:p>
          <a:p>
            <a:pPr marL="285750" indent="-285750"/>
            <a:r>
              <a:rPr lang="en-US" sz="1800" dirty="0"/>
              <a:t>All infrastructure is bundled into a single CDK deployment orchestrated by the GCO CLI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219F76-12BE-AEE0-4E3D-BBC9E5BB1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297" y="404818"/>
            <a:ext cx="2743200" cy="607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EE6120-8061-067E-C3EA-EB1ABBDE8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323718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dirty="0"/>
              <a:t>Deploying with a single command!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82A1FD1-E157-C601-CBA0-1D168BB73CB6}"/>
              </a:ext>
            </a:extLst>
          </p:cNvPr>
          <p:cNvSpPr txBox="1">
            <a:spLocks/>
          </p:cNvSpPr>
          <p:nvPr/>
        </p:nvSpPr>
        <p:spPr>
          <a:xfrm>
            <a:off x="609598" y="1059840"/>
            <a:ext cx="10308773" cy="50290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dirty="0"/>
              <a:t>Set up the GCO CLI </a:t>
            </a:r>
          </a:p>
          <a:p>
            <a:pPr marL="742950" lvl="1" indent="-285750"/>
            <a:r>
              <a:rPr lang="en-US" dirty="0"/>
              <a:t>Set up AWS CDK</a:t>
            </a:r>
          </a:p>
          <a:p>
            <a:pPr marL="742950" lvl="1" indent="-285750"/>
            <a:r>
              <a:rPr lang="en-US" dirty="0"/>
              <a:t>Set up your preferred container runtime (will auto-detect and support Docker, Finch, and </a:t>
            </a:r>
            <a:r>
              <a:rPr lang="en-US" dirty="0" err="1"/>
              <a:t>Podman</a:t>
            </a:r>
            <a:r>
              <a:rPr lang="en-US" dirty="0"/>
              <a:t>).</a:t>
            </a:r>
          </a:p>
          <a:p>
            <a:pPr marL="742950" lvl="1" indent="-285750"/>
            <a:r>
              <a:rPr lang="en-US" dirty="0"/>
              <a:t>Install Python CLI with pip </a:t>
            </a:r>
          </a:p>
          <a:p>
            <a:pPr marL="742950" lvl="1" indent="-285750"/>
            <a:r>
              <a:rPr lang="en-US" dirty="0"/>
              <a:t>(optional) Install </a:t>
            </a:r>
            <a:r>
              <a:rPr lang="en-US" dirty="0" err="1"/>
              <a:t>fastmcp</a:t>
            </a:r>
            <a:r>
              <a:rPr lang="en-US" dirty="0"/>
              <a:t> with pip to use the MCP</a:t>
            </a:r>
          </a:p>
          <a:p>
            <a:pPr marL="742950" lvl="1" indent="-285750"/>
            <a:endParaRPr lang="en-US" dirty="0"/>
          </a:p>
          <a:p>
            <a:pPr marL="742950" lvl="1" indent="-285750"/>
            <a:endParaRPr lang="en-US" dirty="0"/>
          </a:p>
          <a:p>
            <a:pPr marL="285750" indent="-285750"/>
            <a:r>
              <a:rPr lang="en-US" u="sng" dirty="0"/>
              <a:t>Run a single command</a:t>
            </a:r>
            <a:r>
              <a:rPr lang="en-US" dirty="0"/>
              <a:t>: “</a:t>
            </a:r>
            <a:r>
              <a:rPr lang="en-US" dirty="0" err="1">
                <a:solidFill>
                  <a:srgbClr val="00B050"/>
                </a:solidFill>
              </a:rPr>
              <a:t>gco</a:t>
            </a:r>
            <a:r>
              <a:rPr lang="en-US" dirty="0">
                <a:solidFill>
                  <a:srgbClr val="00B050"/>
                </a:solidFill>
              </a:rPr>
              <a:t> stacks deploy-all -y</a:t>
            </a:r>
            <a:r>
              <a:rPr lang="en-US" dirty="0"/>
              <a:t>”</a:t>
            </a:r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Wait &lt;60 minutes (even true for multi-region deployments when done with the ”--parallel” flag)</a:t>
            </a:r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Deploys are idempotent; change your infrastructure and redeploy to have your changes take effect</a:t>
            </a:r>
          </a:p>
        </p:txBody>
      </p:sp>
    </p:spTree>
    <p:extLst>
      <p:ext uri="{BB962C8B-B14F-4D97-AF65-F5344CB8AC3E}">
        <p14:creationId xmlns:p14="http://schemas.microsoft.com/office/powerpoint/2010/main" val="2504191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3344FD63-098B-1371-629B-9DD97ACCF0B9}"/>
              </a:ext>
            </a:extLst>
          </p:cNvPr>
          <p:cNvSpPr txBox="1">
            <a:spLocks/>
          </p:cNvSpPr>
          <p:nvPr/>
        </p:nvSpPr>
        <p:spPr>
          <a:xfrm>
            <a:off x="457200" y="293314"/>
            <a:ext cx="11277600" cy="6279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Programmatically Generated Diagrams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81DA93-CA10-5094-326E-A9DBF1C5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62" y="1395974"/>
            <a:ext cx="10846676" cy="284455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A692D17-73A4-C195-A3A0-AF1F5BF1294F}"/>
              </a:ext>
            </a:extLst>
          </p:cNvPr>
          <p:cNvSpPr/>
          <p:nvPr/>
        </p:nvSpPr>
        <p:spPr>
          <a:xfrm>
            <a:off x="672662" y="2317508"/>
            <a:ext cx="252624" cy="10014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F8AA53-4916-063E-AFF7-24E451AEE9AF}"/>
              </a:ext>
            </a:extLst>
          </p:cNvPr>
          <p:cNvSpPr/>
          <p:nvPr/>
        </p:nvSpPr>
        <p:spPr>
          <a:xfrm>
            <a:off x="925285" y="1391072"/>
            <a:ext cx="4136571" cy="1363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55B58E-98AE-F06F-35EB-FB46270DAF99}"/>
              </a:ext>
            </a:extLst>
          </p:cNvPr>
          <p:cNvSpPr/>
          <p:nvPr/>
        </p:nvSpPr>
        <p:spPr>
          <a:xfrm>
            <a:off x="5061861" y="1391071"/>
            <a:ext cx="1328054" cy="17113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2F83E0-939E-D2A3-FF90-E7C343489C4E}"/>
              </a:ext>
            </a:extLst>
          </p:cNvPr>
          <p:cNvSpPr/>
          <p:nvPr/>
        </p:nvSpPr>
        <p:spPr>
          <a:xfrm>
            <a:off x="6389914" y="1391071"/>
            <a:ext cx="5129423" cy="28543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0B4F3C-99F3-917F-5060-9EF117D50801}"/>
              </a:ext>
            </a:extLst>
          </p:cNvPr>
          <p:cNvSpPr txBox="1"/>
          <p:nvPr/>
        </p:nvSpPr>
        <p:spPr>
          <a:xfrm>
            <a:off x="1627425" y="4296492"/>
            <a:ext cx="9525044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Note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: This diagram was autogenerated using AWS-PDK (use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generate.py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in the “diagrams” folder at any time to generate these diagrams programmatically from the CDK code)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4978A3-3B01-D34A-067D-9FF8923D1E5A}"/>
              </a:ext>
            </a:extLst>
          </p:cNvPr>
          <p:cNvSpPr txBox="1"/>
          <p:nvPr/>
        </p:nvSpPr>
        <p:spPr>
          <a:xfrm>
            <a:off x="457200" y="2963929"/>
            <a:ext cx="205903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A72FD9-BB7A-9A51-53E3-7E7439B1AB26}"/>
              </a:ext>
            </a:extLst>
          </p:cNvPr>
          <p:cNvSpPr txBox="1"/>
          <p:nvPr/>
        </p:nvSpPr>
        <p:spPr>
          <a:xfrm>
            <a:off x="4851178" y="1114072"/>
            <a:ext cx="205903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7B1764-1304-58F2-8FB3-B3ED543F514F}"/>
              </a:ext>
            </a:extLst>
          </p:cNvPr>
          <p:cNvSpPr txBox="1"/>
          <p:nvPr/>
        </p:nvSpPr>
        <p:spPr>
          <a:xfrm>
            <a:off x="6179231" y="1109170"/>
            <a:ext cx="205903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50BE7D-C3AC-CEF5-C6BB-9C3B58BE0628}"/>
              </a:ext>
            </a:extLst>
          </p:cNvPr>
          <p:cNvSpPr txBox="1"/>
          <p:nvPr/>
        </p:nvSpPr>
        <p:spPr>
          <a:xfrm>
            <a:off x="11355000" y="1116523"/>
            <a:ext cx="205903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E84019-F021-2C90-7131-8EFAF7A3C6F8}"/>
              </a:ext>
            </a:extLst>
          </p:cNvPr>
          <p:cNvSpPr txBox="1"/>
          <p:nvPr/>
        </p:nvSpPr>
        <p:spPr>
          <a:xfrm>
            <a:off x="284584" y="4593774"/>
            <a:ext cx="11995196" cy="175432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Global Stack – Global Accelerator, cross-region routing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Monitoring stack – CloudWatch dashboards, alarms, SNS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API Gateway Stack – REST API with IAM auth, WAF, Lambda proxy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Regional Stack – EKS auto mode cluster with ML frameworks pre-installed, ALB, SQS, EFS per region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U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</a:rPr>
              <a:t>Regional stack is replicated in each specified region!</a:t>
            </a:r>
          </a:p>
        </p:txBody>
      </p:sp>
    </p:spTree>
    <p:extLst>
      <p:ext uri="{BB962C8B-B14F-4D97-AF65-F5344CB8AC3E}">
        <p14:creationId xmlns:p14="http://schemas.microsoft.com/office/powerpoint/2010/main" val="2397739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025463-D3B5-29B8-DE47-43F37F1F8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98"/>
          <a:stretch>
            <a:fillRect/>
          </a:stretch>
        </p:blipFill>
        <p:spPr>
          <a:xfrm>
            <a:off x="2056870" y="912050"/>
            <a:ext cx="7772400" cy="568545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9196CB4-F91D-7373-D00C-F3B143B1759A}"/>
              </a:ext>
            </a:extLst>
          </p:cNvPr>
          <p:cNvSpPr txBox="1">
            <a:spLocks/>
          </p:cNvSpPr>
          <p:nvPr/>
        </p:nvSpPr>
        <p:spPr>
          <a:xfrm>
            <a:off x="456670" y="203375"/>
            <a:ext cx="10972800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Amazon Ember Display" panose="020F0603020204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+mn-lt"/>
              </a:rPr>
              <a:t>Maintaining end-to-end edge acceleration for inference and batch jobs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C3124-DF71-741E-106B-68019B59D51A}"/>
              </a:ext>
            </a:extLst>
          </p:cNvPr>
          <p:cNvSpPr/>
          <p:nvPr/>
        </p:nvSpPr>
        <p:spPr>
          <a:xfrm>
            <a:off x="2231571" y="1284514"/>
            <a:ext cx="5377543" cy="18288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73E69E-10B5-19EF-1DCB-FC6E0152DE23}"/>
              </a:ext>
            </a:extLst>
          </p:cNvPr>
          <p:cNvSpPr txBox="1"/>
          <p:nvPr/>
        </p:nvSpPr>
        <p:spPr>
          <a:xfrm>
            <a:off x="7677557" y="1511507"/>
            <a:ext cx="1945414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All latency optimized 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and over the AWS Edge Network</a:t>
            </a:r>
          </a:p>
        </p:txBody>
      </p:sp>
    </p:spTree>
    <p:extLst>
      <p:ext uri="{BB962C8B-B14F-4D97-AF65-F5344CB8AC3E}">
        <p14:creationId xmlns:p14="http://schemas.microsoft.com/office/powerpoint/2010/main" val="612885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54A337-F275-5B4C-F29E-14D90D871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3375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dirty="0"/>
              <a:t>Inference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CDAEC-A6F7-6DE2-DFC7-2F9385ED4F6F}"/>
              </a:ext>
            </a:extLst>
          </p:cNvPr>
          <p:cNvSpPr txBox="1"/>
          <p:nvPr/>
        </p:nvSpPr>
        <p:spPr>
          <a:xfrm>
            <a:off x="609600" y="6108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https://day1inference.com/global-inference-serving/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3BC9E-038E-6C62-1E80-1784CD74A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70821"/>
            <a:ext cx="6411370" cy="4039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5E2096-2A3F-7420-80D2-D3C74E47E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959" y="795482"/>
            <a:ext cx="3654384" cy="543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5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F5B855-2B2C-F3D6-F49D-81CE95130728}"/>
              </a:ext>
            </a:extLst>
          </p:cNvPr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The Problem: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Operational Complexity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BCFE0A-3127-5C83-6F4F-D90B4D381347}"/>
              </a:ext>
            </a:extLst>
          </p:cNvPr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16B74-ADA6-0409-A66D-B41082485E47}"/>
              </a:ext>
            </a:extLst>
          </p:cNvPr>
          <p:cNvSpPr txBox="1"/>
          <p:nvPr/>
        </p:nvSpPr>
        <p:spPr>
          <a:xfrm>
            <a:off x="548640" y="1022374"/>
            <a:ext cx="1187196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The Solution: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Idempotent Deploys and Managed Cluster Setup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473E3F-9D91-8F0E-8BAD-08608E2DA0A6}"/>
              </a:ext>
            </a:extLst>
          </p:cNvPr>
          <p:cNvSpPr/>
          <p:nvPr/>
        </p:nvSpPr>
        <p:spPr>
          <a:xfrm>
            <a:off x="1841500" y="1765348"/>
            <a:ext cx="1536700" cy="1080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Configuration 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cdk.json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C07CCF-DF4A-F4E7-3BE5-3F52E5D514FB}"/>
              </a:ext>
            </a:extLst>
          </p:cNvPr>
          <p:cNvSpPr/>
          <p:nvPr/>
        </p:nvSpPr>
        <p:spPr>
          <a:xfrm>
            <a:off x="1841500" y="3276648"/>
            <a:ext cx="1536700" cy="1080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gco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 stacks deploy-all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E4323-96CB-A917-0786-2C3E891DBD96}"/>
              </a:ext>
            </a:extLst>
          </p:cNvPr>
          <p:cNvSpPr/>
          <p:nvPr/>
        </p:nvSpPr>
        <p:spPr>
          <a:xfrm>
            <a:off x="1841500" y="4755829"/>
            <a:ext cx="1536700" cy="1080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Done; infra now matches config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95870B-1E3F-FEEF-8823-5F4A25AF409A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2609850" y="2846094"/>
            <a:ext cx="0" cy="430554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28F8AB-CC1E-C478-DDF6-DD6D72885C4B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609850" y="4357394"/>
            <a:ext cx="0" cy="39843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5EBCCE1-DD71-5BF3-3614-0D471C72EE82}"/>
              </a:ext>
            </a:extLst>
          </p:cNvPr>
          <p:cNvSpPr txBox="1"/>
          <p:nvPr/>
        </p:nvSpPr>
        <p:spPr>
          <a:xfrm>
            <a:off x="1067592" y="5893799"/>
            <a:ext cx="3013581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Idempotent Infra Management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One file and one command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D52E6B-1388-81E5-4B06-356ECC8F2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260" y="2717800"/>
            <a:ext cx="1422400" cy="1422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FEBC4D-F2CB-697D-3830-B036CB1E2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971" y="1749887"/>
            <a:ext cx="1422400" cy="1422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DBD71E-F397-0A88-FBF6-0FF3DB69F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011" y="1672441"/>
            <a:ext cx="1422400" cy="1422400"/>
          </a:xfrm>
          <a:prstGeom prst="rect">
            <a:avLst/>
          </a:prstGeom>
        </p:spPr>
      </p:pic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AC392A6-7EA6-F1FF-ACD9-902130F56536}"/>
              </a:ext>
            </a:extLst>
          </p:cNvPr>
          <p:cNvCxnSpPr>
            <a:cxnSpLocks/>
            <a:stCxn id="14" idx="2"/>
            <a:endCxn id="13" idx="1"/>
          </p:cNvCxnSpPr>
          <p:nvPr/>
        </p:nvCxnSpPr>
        <p:spPr>
          <a:xfrm rot="16200000" flipH="1">
            <a:off x="6290859" y="2559598"/>
            <a:ext cx="256713" cy="1482089"/>
          </a:xfrm>
          <a:prstGeom prst="bentConnector2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3A48C21C-9E02-7A95-FE8A-5B094C5A3A1C}"/>
              </a:ext>
            </a:extLst>
          </p:cNvPr>
          <p:cNvCxnSpPr>
            <a:stCxn id="15" idx="2"/>
            <a:endCxn id="13" idx="3"/>
          </p:cNvCxnSpPr>
          <p:nvPr/>
        </p:nvCxnSpPr>
        <p:spPr>
          <a:xfrm rot="5400000">
            <a:off x="9155357" y="2522145"/>
            <a:ext cx="334159" cy="1479551"/>
          </a:xfrm>
          <a:prstGeom prst="bentConnector2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B3845CD-4DA8-2DAE-C662-D3C370A48487}"/>
              </a:ext>
            </a:extLst>
          </p:cNvPr>
          <p:cNvSpPr txBox="1"/>
          <p:nvPr/>
        </p:nvSpPr>
        <p:spPr>
          <a:xfrm>
            <a:off x="3695086" y="2135114"/>
            <a:ext cx="1210268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Kubectl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lambda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Installs manifests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9316D4-2BC0-8C5F-3077-1AAC5EADC242}"/>
              </a:ext>
            </a:extLst>
          </p:cNvPr>
          <p:cNvSpPr txBox="1"/>
          <p:nvPr/>
        </p:nvSpPr>
        <p:spPr>
          <a:xfrm>
            <a:off x="11063265" y="2085829"/>
            <a:ext cx="956993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Helm lambda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Installs charts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E60D41-9504-8510-9667-2C613DA85DDB}"/>
              </a:ext>
            </a:extLst>
          </p:cNvPr>
          <p:cNvSpPr txBox="1"/>
          <p:nvPr/>
        </p:nvSpPr>
        <p:spPr>
          <a:xfrm>
            <a:off x="7106507" y="4140200"/>
            <a:ext cx="1529906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EKS Auto Mode Cluster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7DD623-978B-B12F-7202-A950A270E882}"/>
              </a:ext>
            </a:extLst>
          </p:cNvPr>
          <p:cNvSpPr txBox="1"/>
          <p:nvPr/>
        </p:nvSpPr>
        <p:spPr>
          <a:xfrm>
            <a:off x="4563075" y="4696037"/>
            <a:ext cx="6874228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EKS auto mode cluster comes pre-installed with ML frameworks ,EKS add-ons and configured with best practices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Easily extensible and customizable</a:t>
            </a:r>
            <a:r>
              <a:rPr lang="en-US" sz="1200" dirty="0">
                <a:solidFill>
                  <a:prstClr val="white"/>
                </a:solidFill>
              </a:rPr>
              <a:t>. Designed to be totally modular and all aspects of the system can be reconfigured by the user.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309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8D713-5E04-F46D-8C19-2BD92AFFA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071244-2441-A515-6663-EED781A7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9" y="22398"/>
            <a:ext cx="12004902" cy="53553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+mn-lt"/>
              </a:rPr>
              <a:t>Integrated Analytics Environment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3B0E6-B44E-357E-9394-DAC98A8E3DE4}"/>
              </a:ext>
            </a:extLst>
          </p:cNvPr>
          <p:cNvSpPr txBox="1"/>
          <p:nvPr/>
        </p:nvSpPr>
        <p:spPr>
          <a:xfrm>
            <a:off x="674088" y="637697"/>
            <a:ext cx="5304594" cy="267765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white"/>
                </a:solidFill>
              </a:rPr>
              <a:t>Automated user management with Cognito and GCO CLI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Encrypted </a:t>
            </a:r>
            <a:r>
              <a:rPr lang="en-US" sz="1400" dirty="0">
                <a:solidFill>
                  <a:prstClr val="white"/>
                </a:solidFill>
              </a:rPr>
              <a:t>SageMaker environment with KMS key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EFS for persistent storage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white"/>
                </a:solidFill>
              </a:rPr>
              <a:t>EMR Serverless cluster for data analysis and Spark jobs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white"/>
                </a:solidFill>
              </a:rPr>
              <a:t>Shared </a:t>
            </a:r>
            <a:r>
              <a:rPr lang="en-US" sz="1400" dirty="0" err="1">
                <a:solidFill>
                  <a:prstClr val="white"/>
                </a:solidFill>
              </a:rPr>
              <a:t>JupyterLab</a:t>
            </a:r>
            <a:r>
              <a:rPr lang="en-US" sz="1400" dirty="0">
                <a:solidFill>
                  <a:prstClr val="white"/>
                </a:solidFill>
              </a:rPr>
              <a:t> environment with persistent storage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white"/>
                </a:solidFill>
              </a:rPr>
              <a:t>Access a shared S3 bucket that all clusters can also read/write to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white"/>
                </a:solidFill>
              </a:rPr>
              <a:t>Submit to GCO clusters in multiple regions from the environment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white"/>
                </a:solidFill>
              </a:rPr>
              <a:t>Canvas for no-code ML and data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 err="1">
                <a:solidFill>
                  <a:prstClr val="white"/>
                </a:solidFill>
              </a:rPr>
              <a:t>MLFlow</a:t>
            </a:r>
            <a:r>
              <a:rPr lang="en-US" sz="1400" dirty="0">
                <a:solidFill>
                  <a:prstClr val="white"/>
                </a:solidFill>
              </a:rPr>
              <a:t> for experiment tracking!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Deploy with a single command!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dirty="0">
              <a:solidFill>
                <a:prstClr val="white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white"/>
                </a:solidFill>
              </a:rPr>
              <a:t>For a complete guide see </a:t>
            </a:r>
            <a:r>
              <a:rPr lang="en-US" sz="1400" dirty="0" err="1">
                <a:solidFill>
                  <a:prstClr val="white"/>
                </a:solidFill>
              </a:rPr>
              <a:t>ANALYTICS.md</a:t>
            </a:r>
            <a:r>
              <a:rPr lang="en-US" sz="1400" dirty="0">
                <a:solidFill>
                  <a:prstClr val="white"/>
                </a:solidFill>
              </a:rPr>
              <a:t> in the “docs” folder!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128248-9ED1-0049-ACFA-FC688A001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88" y="3741333"/>
            <a:ext cx="5148942" cy="28128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51DA0B-0FA8-96D0-48D2-F85966F31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340" y="499100"/>
            <a:ext cx="5148943" cy="28162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82B066-57E9-1AC1-8189-56A03238B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340" y="3646714"/>
            <a:ext cx="5328595" cy="290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63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FF0A63-3C8B-81C7-8EE3-255BEA38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9" y="22398"/>
            <a:ext cx="12004902" cy="53553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+mn-lt"/>
              </a:rPr>
              <a:t>Webhooks and Templates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397A3-407B-2F92-9DC2-7AA9D6B1CE7D}"/>
              </a:ext>
            </a:extLst>
          </p:cNvPr>
          <p:cNvSpPr txBox="1"/>
          <p:nvPr/>
        </p:nvSpPr>
        <p:spPr>
          <a:xfrm>
            <a:off x="3001402" y="5685830"/>
            <a:ext cx="583127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</a:rPr>
              <a:t>Options to integrate with external systems at every stage of a job’s lifecycle!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34322-C112-8DAE-2A22-B0B60588E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98" y="1773660"/>
            <a:ext cx="6222263" cy="3310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C8070C-F3D7-F920-9C86-5800615AD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697" y="2531729"/>
            <a:ext cx="5525205" cy="16314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1C3384-A565-5934-0A64-686A0F7C2737}"/>
              </a:ext>
            </a:extLst>
          </p:cNvPr>
          <p:cNvSpPr txBox="1"/>
          <p:nvPr/>
        </p:nvSpPr>
        <p:spPr>
          <a:xfrm>
            <a:off x="1953794" y="1018281"/>
            <a:ext cx="8085227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</a:rPr>
              <a:t>Globally accessible templating library allows quick sharing of job templates within your deployment only!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761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F6EC21-B443-ABBD-7343-F82EA71EC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5261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Customizable Schedulers </a:t>
            </a:r>
            <a:br>
              <a:rPr lang="en-US" dirty="0"/>
            </a:br>
            <a:r>
              <a:rPr lang="en-US" dirty="0"/>
              <a:t>(run multiple in combination or turn them all on)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DE6BD-24F9-4C3E-11F4-20B344D1B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85" y="2525485"/>
            <a:ext cx="3848100" cy="2590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23F0C3-73CA-A93B-2FD6-BA1F1F219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482" y="2313080"/>
            <a:ext cx="6361289" cy="301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136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FAC355E-FC90-9905-F4B0-FAA7D816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Multiple Job Submission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17B33-D821-4D99-08A6-A551F778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973" y="2040216"/>
            <a:ext cx="7844053" cy="349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251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26831B-5789-6821-EA14-A265CA73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118172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Security in Depth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573420-22C9-3441-7FC2-961361265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412" y="2817318"/>
            <a:ext cx="5600700" cy="157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8675E-C6AE-2246-C1C3-149A87542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737" y="737374"/>
            <a:ext cx="2588127" cy="573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C46537-3FB6-00A6-2A6F-1334C653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12046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Built-in KEDA Queue Processor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C2E90-0219-AE53-D56B-898FA87C7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718" y="1977198"/>
            <a:ext cx="5472826" cy="924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BCF59B-8AE5-0D0C-D337-79CCB48A1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579" y="3429000"/>
            <a:ext cx="6503377" cy="203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29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53D51F0-F9AA-C4AD-8833-950DDDAA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1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In-built Cost Management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069F5-1BAA-1ACB-CCB8-96944771B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9" y="1445857"/>
            <a:ext cx="10186620" cy="460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7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48842D-30AA-163D-7DEF-884B69F25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07148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Monitoring From a Single Pane of Glass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97815AB-1DAA-EA6B-F693-849E25FDB010}"/>
              </a:ext>
            </a:extLst>
          </p:cNvPr>
          <p:cNvSpPr txBox="1">
            <a:spLocks/>
          </p:cNvSpPr>
          <p:nvPr/>
        </p:nvSpPr>
        <p:spPr>
          <a:xfrm>
            <a:off x="894228" y="4150453"/>
            <a:ext cx="10403541" cy="2139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shade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Metrics from all regions all flow into a single CloudWatch dashboard provisioned by CloudFormation automatically as part of the larger deployment. Also includes several built in alarm and alerting features.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The dashboard is far too large to screenshot here but above are pictures from the GPU metric section (hosted in us-east-2) showing GPU metrics scraped automatically from the cluster using the Nvidia DCGM node exporter in us-east-1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6C5159-FAFE-A081-8390-32E9B0C83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265093"/>
            <a:ext cx="7772400" cy="241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94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8CBB8A-1D5D-E772-49E7-5CD82DA0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3375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Powerful and Extensive API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7E918-C64D-7BA1-54FB-19DC0FAA3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64" y="764065"/>
            <a:ext cx="3534336" cy="58905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768BF-8EBD-65FC-E8F9-E43364FEC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473" y="1209153"/>
            <a:ext cx="47244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79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D11FCD-7BC0-91ED-BB0F-BBA84F94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03375"/>
            <a:ext cx="10972800" cy="53553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Capacity Finding Tools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4E1A33B-5651-58CD-FA15-CDFCFDBD58E5}"/>
              </a:ext>
            </a:extLst>
          </p:cNvPr>
          <p:cNvSpPr txBox="1">
            <a:spLocks/>
          </p:cNvSpPr>
          <p:nvPr/>
        </p:nvSpPr>
        <p:spPr>
          <a:xfrm>
            <a:off x="609600" y="495425"/>
            <a:ext cx="10972800" cy="2191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shade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Analyze live signals to infer available capacity across one or more regions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Converse with an AI about capacity recommendations powered by live data and your choice of Bedrock model (defaults to Claude Sonnet 4.0)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42E8E6-A0D7-C460-A636-038512C68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536" y="4763206"/>
            <a:ext cx="7264928" cy="1599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E2AF4B-CA79-4736-0765-702934D6B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50" y="2486919"/>
            <a:ext cx="65659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9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4AEED-EFBA-F301-CE8E-21B991B74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1162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Comprehensive 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636BA-BCB8-B497-6666-F52EEEDA7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752" y="914400"/>
            <a:ext cx="6901543" cy="55408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90%&gt; code coverage</a:t>
            </a:r>
          </a:p>
          <a:p>
            <a:r>
              <a:rPr lang="en-US" dirty="0"/>
              <a:t>9 different security scanners (Bandit, </a:t>
            </a:r>
            <a:r>
              <a:rPr lang="en-US" dirty="0" err="1"/>
              <a:t>CodeQL</a:t>
            </a:r>
            <a:r>
              <a:rPr lang="en-US" dirty="0"/>
              <a:t>, </a:t>
            </a:r>
            <a:r>
              <a:rPr lang="en-US" dirty="0" err="1"/>
              <a:t>Trivy</a:t>
            </a:r>
            <a:r>
              <a:rPr lang="en-US" dirty="0"/>
              <a:t>, </a:t>
            </a:r>
            <a:r>
              <a:rPr lang="en-US" dirty="0" err="1"/>
              <a:t>Checkov</a:t>
            </a:r>
            <a:r>
              <a:rPr lang="en-US" dirty="0"/>
              <a:t>, KCIS, </a:t>
            </a:r>
            <a:r>
              <a:rPr lang="en-US" dirty="0" err="1"/>
              <a:t>Semgrep</a:t>
            </a:r>
            <a:r>
              <a:rPr lang="en-US" dirty="0"/>
              <a:t>, </a:t>
            </a:r>
            <a:r>
              <a:rPr lang="en-US" dirty="0" err="1"/>
              <a:t>Gitleaks</a:t>
            </a:r>
            <a:r>
              <a:rPr lang="en-US" dirty="0"/>
              <a:t>, </a:t>
            </a:r>
            <a:r>
              <a:rPr lang="en-US" dirty="0" err="1"/>
              <a:t>Trufflehog</a:t>
            </a:r>
            <a:r>
              <a:rPr lang="en-US" dirty="0"/>
              <a:t>, pip-audit)</a:t>
            </a:r>
          </a:p>
          <a:p>
            <a:r>
              <a:rPr lang="en-US" dirty="0"/>
              <a:t>9 different linters (</a:t>
            </a:r>
            <a:r>
              <a:rPr lang="en-US" dirty="0" err="1"/>
              <a:t>CodeQL</a:t>
            </a:r>
            <a:r>
              <a:rPr lang="en-US" dirty="0"/>
              <a:t>, Ruff, Flake8, Black, </a:t>
            </a:r>
            <a:r>
              <a:rPr lang="en-US" dirty="0" err="1"/>
              <a:t>Isort</a:t>
            </a:r>
            <a:r>
              <a:rPr lang="en-US" dirty="0"/>
              <a:t> </a:t>
            </a:r>
            <a:r>
              <a:rPr lang="en-US" dirty="0" err="1"/>
              <a:t>MyPy</a:t>
            </a:r>
            <a:r>
              <a:rPr lang="en-US" dirty="0"/>
              <a:t>, </a:t>
            </a:r>
            <a:r>
              <a:rPr lang="en-US" dirty="0" err="1"/>
              <a:t>Yamllint</a:t>
            </a:r>
            <a:r>
              <a:rPr lang="en-US" dirty="0"/>
              <a:t>, </a:t>
            </a:r>
            <a:r>
              <a:rPr lang="en-US" dirty="0" err="1"/>
              <a:t>Hadolint</a:t>
            </a:r>
            <a:r>
              <a:rPr lang="en-US" dirty="0"/>
              <a:t>, </a:t>
            </a:r>
            <a:r>
              <a:rPr lang="en-US" dirty="0" err="1"/>
              <a:t>ShellCheck</a:t>
            </a:r>
            <a:r>
              <a:rPr lang="en-US" dirty="0"/>
              <a:t>)</a:t>
            </a:r>
          </a:p>
          <a:p>
            <a:r>
              <a:rPr lang="en-US"/>
              <a:t>Over 5,500 </a:t>
            </a:r>
            <a:r>
              <a:rPr lang="en-US" dirty="0"/>
              <a:t>total unit tests (</a:t>
            </a:r>
            <a:r>
              <a:rPr lang="en-US" dirty="0" err="1"/>
              <a:t>PyTest</a:t>
            </a:r>
            <a:r>
              <a:rPr lang="en-US" dirty="0"/>
              <a:t> and BATS)</a:t>
            </a:r>
          </a:p>
          <a:p>
            <a:r>
              <a:rPr lang="en-US" dirty="0"/>
              <a:t>CDK Synthesis Matrix test makes sure the project reliably synthesizes CloudFormation under 32 diverse configuration sets.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2550EF-6AC9-341B-5FE9-A87707586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81" y="511629"/>
            <a:ext cx="3566117" cy="585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81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93B55-3F43-BD08-8986-01FBEEFD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035"/>
            <a:ext cx="10515600" cy="369332"/>
          </a:xfrm>
        </p:spPr>
        <p:txBody>
          <a:bodyPr>
            <a:normAutofit fontScale="90000"/>
          </a:bodyPr>
          <a:lstStyle/>
          <a:p>
            <a:r>
              <a:rPr lang="en-US" dirty="0"/>
              <a:t>5 CDK Nag Conformance Packs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DBE21C-02ED-0460-864E-D6BA72B1D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44" y="620424"/>
            <a:ext cx="9259331" cy="21761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B87D02-EF5A-FF02-9BAE-12F9EA41E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923" y="2918676"/>
            <a:ext cx="5397574" cy="3423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7E926C-7A7C-034A-B9E6-1CAFD561FC92}"/>
              </a:ext>
            </a:extLst>
          </p:cNvPr>
          <p:cNvSpPr txBox="1"/>
          <p:nvPr/>
        </p:nvSpPr>
        <p:spPr>
          <a:xfrm>
            <a:off x="2815710" y="63596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https://github.com/cdklabs/cdk-nag/blob/main/RULES.md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8298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01E92B-A27E-F1F6-B0CC-E9FDF89D6A5E}"/>
              </a:ext>
            </a:extLst>
          </p:cNvPr>
          <p:cNvSpPr/>
          <p:nvPr/>
        </p:nvSpPr>
        <p:spPr>
          <a:xfrm>
            <a:off x="1524000" y="0"/>
            <a:ext cx="32004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C4E87-13CC-6D1E-6293-A3CA50FCAA57}"/>
              </a:ext>
            </a:extLst>
          </p:cNvPr>
          <p:cNvSpPr txBox="1"/>
          <p:nvPr/>
        </p:nvSpPr>
        <p:spPr>
          <a:xfrm>
            <a:off x="1524000" y="2011680"/>
            <a:ext cx="3200400" cy="137160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6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</a:t>
            </a:r>
            <a:r>
              <a:rPr lang="en-US" sz="9600" b="1" dirty="0">
                <a:solidFill>
                  <a:srgbClr val="FF9900"/>
                </a:solidFill>
                <a:latin typeface="Arial"/>
              </a:rPr>
              <a:t>2</a:t>
            </a:r>
            <a:endParaRPr kumimoji="0" sz="96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B0C55-353A-7503-5D80-CBC8B04C1625}"/>
              </a:ext>
            </a:extLst>
          </p:cNvPr>
          <p:cNvSpPr txBox="1"/>
          <p:nvPr/>
        </p:nvSpPr>
        <p:spPr>
          <a:xfrm>
            <a:off x="5181600" y="22860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Auto Routing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BAF7A-B964-AB7B-76F2-0F41819E6B84}"/>
              </a:ext>
            </a:extLst>
          </p:cNvPr>
          <p:cNvSpPr txBox="1"/>
          <p:nvPr/>
        </p:nvSpPr>
        <p:spPr>
          <a:xfrm>
            <a:off x="5181600" y="31089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Automatically selecting the best region for workloads</a:t>
            </a:r>
          </a:p>
        </p:txBody>
      </p:sp>
    </p:spTree>
    <p:extLst>
      <p:ext uri="{BB962C8B-B14F-4D97-AF65-F5344CB8AC3E}">
        <p14:creationId xmlns:p14="http://schemas.microsoft.com/office/powerpoint/2010/main" val="372104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27E3DFE-6842-5D32-C5D7-51CBCC89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3413"/>
            <a:ext cx="10972800" cy="2751522"/>
          </a:xfrm>
        </p:spPr>
        <p:txBody>
          <a:bodyPr>
            <a:normAutofit fontScale="90000"/>
          </a:bodyPr>
          <a:lstStyle/>
          <a:p>
            <a:r>
              <a:rPr lang="en-US" dirty="0"/>
              <a:t>GCO Auto Routing Capability #1: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i="1" dirty="0"/>
              <a:t>Take my workload to the nearest region and don’t go to a region if it is already running too much stuff.</a:t>
            </a:r>
          </a:p>
        </p:txBody>
      </p:sp>
    </p:spTree>
    <p:extLst>
      <p:ext uri="{BB962C8B-B14F-4D97-AF65-F5344CB8AC3E}">
        <p14:creationId xmlns:p14="http://schemas.microsoft.com/office/powerpoint/2010/main" val="180679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5FB2AC-3F2E-6C53-581B-6AB02CB0DFA9}"/>
              </a:ext>
            </a:extLst>
          </p:cNvPr>
          <p:cNvSpPr txBox="1">
            <a:spLocks/>
          </p:cNvSpPr>
          <p:nvPr/>
        </p:nvSpPr>
        <p:spPr>
          <a:xfrm>
            <a:off x="304800" y="203375"/>
            <a:ext cx="11258550" cy="72765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GCO AWS Global Accelerator Concepts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244BB1C-CE65-5C5B-75D1-5EF25CCD9998}"/>
              </a:ext>
            </a:extLst>
          </p:cNvPr>
          <p:cNvSpPr txBox="1">
            <a:spLocks/>
          </p:cNvSpPr>
          <p:nvPr/>
        </p:nvSpPr>
        <p:spPr>
          <a:xfrm>
            <a:off x="669450" y="2331714"/>
            <a:ext cx="4499624" cy="2185214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  <a:defRPr sz="1200" b="1" kern="1200" cap="all" spc="3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  <a:lvl2pPr marL="573088" indent="-344488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1350" indent="-409575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 Display" panose="020F0603020204020204" pitchFamily="34" charset="0"/>
              <a:buChar char="–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 Display" panose="020F0603020204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Amazon Ember Display" panose="020F0603020204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 Display" panose="020F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85" marR="0" lvl="0" indent="-3809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all" spc="300" normalizeH="0" baseline="0" noProof="0" dirty="0">
                <a:ln>
                  <a:noFill/>
                </a:ln>
                <a:solidFill>
                  <a:srgbClr val="F1F3F3"/>
                </a:solidFill>
                <a:effectLst/>
                <a:uLnTx/>
                <a:uFillTx/>
                <a:latin typeface="+mn-lt"/>
                <a:ea typeface="Amazon Ember Mono" panose="020B0509020204020204" pitchFamily="49" charset="0"/>
                <a:cs typeface="Amazon Ember Mono" panose="020B0509020204020204" pitchFamily="49" charset="0"/>
              </a:rPr>
              <a:t>Uses AWS Global Network from Edge to Region</a:t>
            </a:r>
          </a:p>
          <a:p>
            <a:pPr marL="380985" marR="0" lvl="0" indent="-3809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1" i="0" u="none" strike="noStrike" kern="1200" cap="all" spc="300" normalizeH="0" baseline="0" noProof="0" dirty="0">
              <a:ln>
                <a:noFill/>
              </a:ln>
              <a:solidFill>
                <a:srgbClr val="F1F3F3"/>
              </a:solidFill>
              <a:effectLst/>
              <a:uLnTx/>
              <a:uFillTx/>
              <a:latin typeface="+mn-lt"/>
              <a:ea typeface="Amazon Ember Mono" panose="020B0509020204020204" pitchFamily="49" charset="0"/>
              <a:cs typeface="Amazon Ember Mono" panose="020B0509020204020204" pitchFamily="49" charset="0"/>
            </a:endParaRPr>
          </a:p>
          <a:p>
            <a:pPr marL="380985" marR="0" lvl="0" indent="-3809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all" spc="300" normalizeH="0" baseline="0" noProof="0" dirty="0">
                <a:ln>
                  <a:noFill/>
                </a:ln>
                <a:solidFill>
                  <a:srgbClr val="F1F3F3"/>
                </a:solidFill>
                <a:effectLst/>
                <a:uLnTx/>
                <a:uFillTx/>
                <a:latin typeface="+mn-lt"/>
                <a:ea typeface="Amazon Ember Mono" panose="020B0509020204020204" pitchFamily="49" charset="0"/>
                <a:cs typeface="Amazon Ember Mono" panose="020B0509020204020204" pitchFamily="49" charset="0"/>
              </a:rPr>
              <a:t>Client traffic ingresses via closest available Edge location</a:t>
            </a:r>
          </a:p>
          <a:p>
            <a:pPr marL="380985" marR="0" lvl="0" indent="-3809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1" i="0" u="none" strike="noStrike" kern="1200" cap="all" spc="300" normalizeH="0" baseline="0" noProof="0" dirty="0">
              <a:ln>
                <a:noFill/>
              </a:ln>
              <a:solidFill>
                <a:srgbClr val="FF8500">
                  <a:lumMod val="40000"/>
                  <a:lumOff val="60000"/>
                </a:srgbClr>
              </a:solidFill>
              <a:effectLst/>
              <a:uLnTx/>
              <a:uFillTx/>
              <a:latin typeface="+mn-lt"/>
              <a:ea typeface="Amazon Ember Mono" panose="020B0509020204020204" pitchFamily="49" charset="0"/>
              <a:cs typeface="Amazon Ember Mono" panose="020B0509020204020204" pitchFamily="49" charset="0"/>
            </a:endParaRPr>
          </a:p>
          <a:p>
            <a:pPr marL="380985" marR="0" lvl="0" indent="-3809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all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Amazon Ember Mono" panose="020B0509020204020204" pitchFamily="49" charset="0"/>
                <a:cs typeface="Amazon Ember Mono" panose="020B0509020204020204" pitchFamily="49" charset="0"/>
              </a:rPr>
              <a:t>Route client to closest healthy endpoint (THIS IS VERY IMPORTANT)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7FB06C-AF16-BD4D-9348-C5DE5E239197}"/>
              </a:ext>
            </a:extLst>
          </p:cNvPr>
          <p:cNvSpPr/>
          <p:nvPr/>
        </p:nvSpPr>
        <p:spPr>
          <a:xfrm>
            <a:off x="5302623" y="2704666"/>
            <a:ext cx="6093885" cy="3582323"/>
          </a:xfrm>
          <a:prstGeom prst="rect">
            <a:avLst/>
          </a:prstGeom>
          <a:noFill/>
          <a:ln w="12700">
            <a:solidFill>
              <a:srgbClr val="FA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1000" tIns="76200" rIns="76200" bIns="381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ea typeface="+mn-ea"/>
                <a:cs typeface="+mn-cs"/>
              </a:rPr>
              <a:t>AWS Cloud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498AF2F-30F3-3AD9-19C7-D8D95E06B5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2624" y="2704665"/>
            <a:ext cx="275167" cy="27516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E6067BC-84E0-AF9B-5F67-6532AEF2A0B2}"/>
              </a:ext>
            </a:extLst>
          </p:cNvPr>
          <p:cNvGrpSpPr/>
          <p:nvPr/>
        </p:nvGrpSpPr>
        <p:grpSpPr>
          <a:xfrm>
            <a:off x="6207086" y="1017041"/>
            <a:ext cx="1114428" cy="928175"/>
            <a:chOff x="8276586" y="766174"/>
            <a:chExt cx="1337314" cy="1113808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DA4AF52-1FB7-2C14-E18B-25303E983D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8703450" y="766174"/>
              <a:ext cx="483586" cy="4699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68C0D3-3845-E6B1-A933-40E1F9C761CB}"/>
                </a:ext>
              </a:extLst>
            </p:cNvPr>
            <p:cNvSpPr txBox="1"/>
            <p:nvPr/>
          </p:nvSpPr>
          <p:spPr>
            <a:xfrm>
              <a:off x="8276586" y="1338142"/>
              <a:ext cx="1337314" cy="541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Users in South America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4D7FD7-A6D4-5FDD-E7C2-C273C57EB7E0}"/>
              </a:ext>
            </a:extLst>
          </p:cNvPr>
          <p:cNvGrpSpPr/>
          <p:nvPr/>
        </p:nvGrpSpPr>
        <p:grpSpPr>
          <a:xfrm>
            <a:off x="10126806" y="1001309"/>
            <a:ext cx="1288572" cy="928175"/>
            <a:chOff x="11709050" y="612285"/>
            <a:chExt cx="1546286" cy="1113808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67405A4C-DD46-6FAA-FF44-E50C6223AC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2240400" y="612285"/>
              <a:ext cx="483586" cy="4699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385211-2276-13EB-A014-638D1FA859AE}"/>
                </a:ext>
              </a:extLst>
            </p:cNvPr>
            <p:cNvSpPr txBox="1"/>
            <p:nvPr/>
          </p:nvSpPr>
          <p:spPr>
            <a:xfrm>
              <a:off x="11709050" y="1184253"/>
              <a:ext cx="1546286" cy="541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Users in New Zealand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15B2CD-7F18-3AAA-C9EE-FF6BDBAA3EB5}"/>
              </a:ext>
            </a:extLst>
          </p:cNvPr>
          <p:cNvGrpSpPr/>
          <p:nvPr/>
        </p:nvGrpSpPr>
        <p:grpSpPr>
          <a:xfrm>
            <a:off x="5805174" y="2807839"/>
            <a:ext cx="1918253" cy="684106"/>
            <a:chOff x="7552498" y="3149394"/>
            <a:chExt cx="2301904" cy="82092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3214427-6833-58EF-396A-AE057A5AF3C0}"/>
                </a:ext>
              </a:extLst>
            </p:cNvPr>
            <p:cNvSpPr txBox="1"/>
            <p:nvPr/>
          </p:nvSpPr>
          <p:spPr>
            <a:xfrm>
              <a:off x="7552498" y="3644001"/>
              <a:ext cx="2301904" cy="326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Edge location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55E01049-4EF9-3F85-6AC0-A1D6709570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68500" y="3149394"/>
              <a:ext cx="469900" cy="4699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BB0549-BEDF-F6AF-65BC-A7A34263E76C}"/>
              </a:ext>
            </a:extLst>
          </p:cNvPr>
          <p:cNvGrpSpPr/>
          <p:nvPr/>
        </p:nvGrpSpPr>
        <p:grpSpPr>
          <a:xfrm>
            <a:off x="7134850" y="2807839"/>
            <a:ext cx="1918253" cy="684106"/>
            <a:chOff x="7552498" y="3149394"/>
            <a:chExt cx="2301904" cy="82092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7E99C84-4758-573C-5635-8131ED0E2532}"/>
                </a:ext>
              </a:extLst>
            </p:cNvPr>
            <p:cNvSpPr txBox="1"/>
            <p:nvPr/>
          </p:nvSpPr>
          <p:spPr>
            <a:xfrm>
              <a:off x="7552498" y="3644001"/>
              <a:ext cx="2301904" cy="326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Edge location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F8DDA83-F67C-696C-F4E6-AE4FB40F35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68500" y="3149394"/>
              <a:ext cx="469900" cy="4699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348BE17-2F13-8201-E9AE-E9B3298FEDF1}"/>
              </a:ext>
            </a:extLst>
          </p:cNvPr>
          <p:cNvGrpSpPr/>
          <p:nvPr/>
        </p:nvGrpSpPr>
        <p:grpSpPr>
          <a:xfrm>
            <a:off x="8464527" y="2807839"/>
            <a:ext cx="1918253" cy="684106"/>
            <a:chOff x="7552498" y="3149394"/>
            <a:chExt cx="2301904" cy="82092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D11A50-12D3-BFEA-79B6-015CFDD520B7}"/>
                </a:ext>
              </a:extLst>
            </p:cNvPr>
            <p:cNvSpPr txBox="1"/>
            <p:nvPr/>
          </p:nvSpPr>
          <p:spPr>
            <a:xfrm>
              <a:off x="7552498" y="3644001"/>
              <a:ext cx="2301904" cy="326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Edge location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6F7BF8C8-F2DD-9240-190F-735F850DB1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68500" y="3149394"/>
              <a:ext cx="469900" cy="4699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1A72E38-B672-6903-5056-706FC070321B}"/>
              </a:ext>
            </a:extLst>
          </p:cNvPr>
          <p:cNvGrpSpPr/>
          <p:nvPr/>
        </p:nvGrpSpPr>
        <p:grpSpPr>
          <a:xfrm>
            <a:off x="9811966" y="2803021"/>
            <a:ext cx="1918253" cy="684106"/>
            <a:chOff x="7552498" y="3149394"/>
            <a:chExt cx="2301904" cy="82092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EFFEE34-1B26-8D29-DF45-D8AEA9A007AD}"/>
                </a:ext>
              </a:extLst>
            </p:cNvPr>
            <p:cNvSpPr txBox="1"/>
            <p:nvPr/>
          </p:nvSpPr>
          <p:spPr>
            <a:xfrm>
              <a:off x="7552498" y="3644001"/>
              <a:ext cx="2301904" cy="326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Edge location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0B54CC48-A2F3-36F5-4EBD-01012486B9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68500" y="3149394"/>
              <a:ext cx="469900" cy="4699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7DCC86A-A139-3C9E-162F-FBA5FB528878}"/>
              </a:ext>
            </a:extLst>
          </p:cNvPr>
          <p:cNvGrpSpPr/>
          <p:nvPr/>
        </p:nvGrpSpPr>
        <p:grpSpPr>
          <a:xfrm>
            <a:off x="7557196" y="1552963"/>
            <a:ext cx="1918253" cy="1079556"/>
            <a:chOff x="8981486" y="1240692"/>
            <a:chExt cx="2301904" cy="129546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BDCE158-30D5-F05C-77E9-BCD2F8ECF79B}"/>
                </a:ext>
              </a:extLst>
            </p:cNvPr>
            <p:cNvSpPr txBox="1"/>
            <p:nvPr/>
          </p:nvSpPr>
          <p:spPr>
            <a:xfrm>
              <a:off x="8981486" y="1994318"/>
              <a:ext cx="2301904" cy="541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Single AWS Global Accelerator Endpoint</a:t>
              </a: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9E2841B0-545A-35EF-D582-8DFCBB6732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76838" y="1240692"/>
              <a:ext cx="711200" cy="711200"/>
            </a:xfrm>
            <a:prstGeom prst="rect">
              <a:avLst/>
            </a:prstGeom>
          </p:spPr>
        </p:pic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43EA6B-5D4A-5F15-9499-3FB294A3E3EC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6764300" y="1945216"/>
            <a:ext cx="1" cy="862623"/>
          </a:xfrm>
          <a:prstGeom prst="straightConnector1">
            <a:avLst/>
          </a:prstGeom>
          <a:ln w="12700">
            <a:solidFill>
              <a:srgbClr val="8FA7C4"/>
            </a:solidFill>
            <a:prstDash val="solid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07EFA6-A21E-41F7-4B55-57544512C4C9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764301" y="3491945"/>
            <a:ext cx="1864664" cy="710561"/>
          </a:xfrm>
          <a:prstGeom prst="straightConnector1">
            <a:avLst/>
          </a:prstGeom>
          <a:ln w="12700">
            <a:solidFill>
              <a:srgbClr val="8FA7C4"/>
            </a:solidFill>
            <a:prstDash val="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2DF53F7-356F-483F-DF1E-89E4FF36FADC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764301" y="3491945"/>
            <a:ext cx="5702" cy="670998"/>
          </a:xfrm>
          <a:prstGeom prst="straightConnector1">
            <a:avLst/>
          </a:prstGeom>
          <a:ln w="12700">
            <a:solidFill>
              <a:srgbClr val="8FA7C4"/>
            </a:solidFill>
            <a:prstDash val="solid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D53C385-D46F-7E88-B1CB-C520C7AA0BE9}"/>
              </a:ext>
            </a:extLst>
          </p:cNvPr>
          <p:cNvCxnSpPr>
            <a:cxnSpLocks/>
          </p:cNvCxnSpPr>
          <p:nvPr/>
        </p:nvCxnSpPr>
        <p:spPr>
          <a:xfrm>
            <a:off x="10753330" y="3476494"/>
            <a:ext cx="0" cy="686448"/>
          </a:xfrm>
          <a:prstGeom prst="straightConnector1">
            <a:avLst/>
          </a:prstGeom>
          <a:ln w="12700">
            <a:solidFill>
              <a:srgbClr val="8FA7C4"/>
            </a:solidFill>
            <a:prstDash val="solid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3A911A1-A205-1059-9664-2BDBF6C4097F}"/>
              </a:ext>
            </a:extLst>
          </p:cNvPr>
          <p:cNvCxnSpPr>
            <a:cxnSpLocks/>
            <a:stCxn id="14" idx="2"/>
            <a:endCxn id="26" idx="0"/>
          </p:cNvCxnSpPr>
          <p:nvPr/>
        </p:nvCxnSpPr>
        <p:spPr>
          <a:xfrm>
            <a:off x="10771092" y="1929484"/>
            <a:ext cx="1" cy="873537"/>
          </a:xfrm>
          <a:prstGeom prst="straightConnector1">
            <a:avLst/>
          </a:prstGeom>
          <a:ln w="12700">
            <a:solidFill>
              <a:srgbClr val="8FA7C4"/>
            </a:solidFill>
            <a:prstDash val="solid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5A61BBA-ABE4-5F3B-3BA3-0FAAEDDC5B9D}"/>
              </a:ext>
            </a:extLst>
          </p:cNvPr>
          <p:cNvCxnSpPr>
            <a:cxnSpLocks/>
          </p:cNvCxnSpPr>
          <p:nvPr/>
        </p:nvCxnSpPr>
        <p:spPr>
          <a:xfrm flipH="1">
            <a:off x="8289768" y="3476494"/>
            <a:ext cx="2463562" cy="712939"/>
          </a:xfrm>
          <a:prstGeom prst="straightConnector1">
            <a:avLst/>
          </a:prstGeom>
          <a:ln w="12700">
            <a:solidFill>
              <a:srgbClr val="8FA7C4"/>
            </a:solidFill>
            <a:prstDash val="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14B5DF1-ED9E-35CC-B9A7-9A07A0D3CA49}"/>
              </a:ext>
            </a:extLst>
          </p:cNvPr>
          <p:cNvSpPr txBox="1"/>
          <p:nvPr/>
        </p:nvSpPr>
        <p:spPr>
          <a:xfrm>
            <a:off x="7758312" y="3661028"/>
            <a:ext cx="1519262" cy="271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 dirty="0">
                <a:ln>
                  <a:noFill/>
                </a:ln>
                <a:solidFill>
                  <a:srgbClr val="8FA8C2"/>
                </a:solidFill>
                <a:effectLst/>
                <a:uLnTx/>
                <a:uFillTx/>
                <a:ea typeface="+mn-ea"/>
                <a:cs typeface="+mn-cs"/>
              </a:rPr>
              <a:t>Redundant paths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412C223-06EF-F0FE-9DFC-4906267E9890}"/>
              </a:ext>
            </a:extLst>
          </p:cNvPr>
          <p:cNvGrpSpPr/>
          <p:nvPr/>
        </p:nvGrpSpPr>
        <p:grpSpPr>
          <a:xfrm>
            <a:off x="6588072" y="5524492"/>
            <a:ext cx="1261088" cy="597880"/>
            <a:chOff x="13141897" y="2052523"/>
            <a:chExt cx="1513305" cy="71745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4170740-E166-CFD2-E31B-6E5EC84B3BB2}"/>
                </a:ext>
              </a:extLst>
            </p:cNvPr>
            <p:cNvSpPr txBox="1"/>
            <p:nvPr/>
          </p:nvSpPr>
          <p:spPr>
            <a:xfrm>
              <a:off x="13141897" y="2443657"/>
              <a:ext cx="1513305" cy="326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rPr>
                <a:t>GCO Services</a:t>
              </a: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014E91D3-1162-292C-542A-3AEA8E7530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663599" y="2052523"/>
              <a:ext cx="469900" cy="469900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89F880A-519E-09EA-895A-A9A14CC2C1F5}"/>
              </a:ext>
            </a:extLst>
          </p:cNvPr>
          <p:cNvSpPr txBox="1"/>
          <p:nvPr/>
        </p:nvSpPr>
        <p:spPr>
          <a:xfrm>
            <a:off x="6259489" y="5194533"/>
            <a:ext cx="1918253" cy="271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Application Load Balancer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DA50F01-CA6B-B6F7-3117-F429D7FEF8F7}"/>
              </a:ext>
            </a:extLst>
          </p:cNvPr>
          <p:cNvGrpSpPr/>
          <p:nvPr/>
        </p:nvGrpSpPr>
        <p:grpSpPr>
          <a:xfrm>
            <a:off x="9133233" y="5524492"/>
            <a:ext cx="1261088" cy="597880"/>
            <a:chOff x="13141897" y="2052523"/>
            <a:chExt cx="1513305" cy="71745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A111C1-E9E5-5348-6A88-FAC4C36BAC21}"/>
                </a:ext>
              </a:extLst>
            </p:cNvPr>
            <p:cNvSpPr txBox="1"/>
            <p:nvPr/>
          </p:nvSpPr>
          <p:spPr>
            <a:xfrm>
              <a:off x="13141897" y="2443657"/>
              <a:ext cx="1513305" cy="326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rPr>
                <a:t>GCO Services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FF657176-DC81-15B8-FD6C-A300742DB1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663599" y="2052523"/>
              <a:ext cx="469900" cy="469900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F7E9A30-8A83-C387-3783-B6B2276BC0C7}"/>
              </a:ext>
            </a:extLst>
          </p:cNvPr>
          <p:cNvSpPr txBox="1"/>
          <p:nvPr/>
        </p:nvSpPr>
        <p:spPr>
          <a:xfrm>
            <a:off x="8804649" y="5194533"/>
            <a:ext cx="1918253" cy="271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Application Load Balancer</a:t>
            </a:r>
          </a:p>
        </p:txBody>
      </p:sp>
      <p:pic>
        <p:nvPicPr>
          <p:cNvPr id="47" name="Graphic 6">
            <a:extLst>
              <a:ext uri="{FF2B5EF4-FFF2-40B4-BE49-F238E27FC236}">
                <a16:creationId xmlns:a16="http://schemas.microsoft.com/office/drawing/2014/main" id="{9A0B71CF-CC5C-BC22-8BF6-66585B5E400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9446276" y="4610311"/>
            <a:ext cx="635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Graphic 6">
            <a:extLst>
              <a:ext uri="{FF2B5EF4-FFF2-40B4-BE49-F238E27FC236}">
                <a16:creationId xmlns:a16="http://schemas.microsoft.com/office/drawing/2014/main" id="{87A904B1-7930-7962-87C6-3BFA07D6374E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6901116" y="4596960"/>
            <a:ext cx="635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EC5C21A9-DB21-6D1A-7E45-BFAE7BBDC692}"/>
              </a:ext>
            </a:extLst>
          </p:cNvPr>
          <p:cNvSpPr/>
          <p:nvPr/>
        </p:nvSpPr>
        <p:spPr>
          <a:xfrm>
            <a:off x="6098535" y="4204362"/>
            <a:ext cx="2170090" cy="1902555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9100" tIns="76200"/>
          <a:lstStyle/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US East (N. Virginia) (Primary)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F4872791-2689-B879-8AC6-CCAEFCF3E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100738" y="4221130"/>
            <a:ext cx="317500" cy="3175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C3B9CDCA-F915-0F78-B828-F6E48B089C6E}"/>
              </a:ext>
            </a:extLst>
          </p:cNvPr>
          <p:cNvSpPr/>
          <p:nvPr/>
        </p:nvSpPr>
        <p:spPr>
          <a:xfrm>
            <a:off x="8638317" y="4194250"/>
            <a:ext cx="2170090" cy="1902555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9100" tIns="76200"/>
          <a:lstStyle/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Asia Pacific (Singapore) (Secondary)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25F5B3A5-2509-FF4A-0317-C8E6904FA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640520" y="4211018"/>
            <a:ext cx="3175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09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06C4A1-0204-854F-B390-DFB06A518022}"/>
              </a:ext>
            </a:extLst>
          </p:cNvPr>
          <p:cNvSpPr txBox="1"/>
          <p:nvPr/>
        </p:nvSpPr>
        <p:spPr>
          <a:xfrm>
            <a:off x="548640" y="274320"/>
            <a:ext cx="1070356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The Problem: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Run my job ASAP wherever there’s capacity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618D1-18AF-BD77-F484-9EEF0549DE45}"/>
              </a:ext>
            </a:extLst>
          </p:cNvPr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AA070-81F9-51F4-D298-7BCBE2023FE4}"/>
              </a:ext>
            </a:extLst>
          </p:cNvPr>
          <p:cNvSpPr txBox="1"/>
          <p:nvPr/>
        </p:nvSpPr>
        <p:spPr>
          <a:xfrm>
            <a:off x="548640" y="921197"/>
            <a:ext cx="1033526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The Solution: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Automated resource-based job routing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DA4CB2-48B7-C177-D2C6-21B8FEC47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0" y="2099309"/>
            <a:ext cx="4482477" cy="26593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80069E-240C-AEFE-7B73-194462817E6C}"/>
              </a:ext>
            </a:extLst>
          </p:cNvPr>
          <p:cNvSpPr txBox="1"/>
          <p:nvPr/>
        </p:nvSpPr>
        <p:spPr>
          <a:xfrm>
            <a:off x="5632450" y="1842617"/>
            <a:ext cx="61341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Generally, when an application fails health checks its because its not working.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However, there’s no reason we can’t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programmatically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fail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healthchecks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and use this to control Global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Acclerator’s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routing behavior.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All of these thresholds can be changed at any time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cdk.json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and redeployed out to the infra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If an EKS cluster exceeds any of these thresholds incoming jobs will route away from the cluster to other clusters</a:t>
            </a:r>
          </a:p>
        </p:txBody>
      </p:sp>
    </p:spTree>
    <p:extLst>
      <p:ext uri="{BB962C8B-B14F-4D97-AF65-F5344CB8AC3E}">
        <p14:creationId xmlns:p14="http://schemas.microsoft.com/office/powerpoint/2010/main" val="2488182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86EB67-58A1-EC36-A2AB-87750FB4B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3413"/>
            <a:ext cx="10972800" cy="3194721"/>
          </a:xfrm>
        </p:spPr>
        <p:txBody>
          <a:bodyPr>
            <a:normAutofit fontScale="90000"/>
          </a:bodyPr>
          <a:lstStyle/>
          <a:p>
            <a:r>
              <a:rPr lang="en-US" dirty="0"/>
              <a:t>GCO Auto Routing Capability #2: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i="1" dirty="0"/>
              <a:t>Automatically determine the optimal region for my workload.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DC8C35-5E84-F4FD-E941-4B966F0B6397}"/>
              </a:ext>
            </a:extLst>
          </p:cNvPr>
          <p:cNvSpPr txBox="1"/>
          <p:nvPr/>
        </p:nvSpPr>
        <p:spPr>
          <a:xfrm>
            <a:off x="548640" y="274320"/>
            <a:ext cx="1121791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The Problem: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Knowing what region to run in can be difficult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B7C289-0F14-33B2-E4F4-A6FC6F01F6B3}"/>
              </a:ext>
            </a:extLst>
          </p:cNvPr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840DE-3A3C-3E71-C971-23CC62D5BB55}"/>
              </a:ext>
            </a:extLst>
          </p:cNvPr>
          <p:cNvSpPr txBox="1"/>
          <p:nvPr/>
        </p:nvSpPr>
        <p:spPr>
          <a:xfrm>
            <a:off x="548640" y="921197"/>
            <a:ext cx="1093851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The Solution: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Give customers better information and tools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782E51-8F8D-C870-34DA-D4EB45BF8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224" y="2916520"/>
            <a:ext cx="5472826" cy="1204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6006DB-C8A9-A0D3-22F5-AF736D52E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41" y="3830466"/>
            <a:ext cx="6540500" cy="1104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C1D09A-5E7A-E98A-6BC2-3626DEE08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41" y="1836566"/>
            <a:ext cx="65659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001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7CA7C4-1E90-5695-B07F-2B35ED969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3413"/>
            <a:ext cx="10972800" cy="3637919"/>
          </a:xfrm>
        </p:spPr>
        <p:txBody>
          <a:bodyPr>
            <a:normAutofit fontScale="90000"/>
          </a:bodyPr>
          <a:lstStyle/>
          <a:p>
            <a:r>
              <a:rPr lang="en-US" dirty="0"/>
              <a:t>GCO Auto Routing Capability #3:</a:t>
            </a:r>
            <a:br>
              <a:rPr lang="en-US" i="1" dirty="0"/>
            </a:br>
            <a:br>
              <a:rPr lang="en-US" i="1" dirty="0"/>
            </a:br>
            <a:br>
              <a:rPr lang="en-US" i="1" dirty="0"/>
            </a:br>
            <a:br>
              <a:rPr lang="en-US" i="1" dirty="0"/>
            </a:br>
            <a:r>
              <a:rPr lang="en-US" i="1" dirty="0"/>
              <a:t>Set up autoscaling, multi-region, latency minimized custom inference endpoints with automatic failover and IAM authentication using a single CLI command.</a:t>
            </a:r>
            <a:br>
              <a:rPr lang="en-US" i="1" dirty="0"/>
            </a:b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34052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483DB9-9859-5DA0-8D3D-EF14B70891A4}"/>
              </a:ext>
            </a:extLst>
          </p:cNvPr>
          <p:cNvSpPr txBox="1"/>
          <p:nvPr/>
        </p:nvSpPr>
        <p:spPr>
          <a:xfrm>
            <a:off x="548640" y="274320"/>
            <a:ext cx="1070356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The Problem: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Setting up multi-region inference is hard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E67108-0A67-540D-B299-DB568A56890D}"/>
              </a:ext>
            </a:extLst>
          </p:cNvPr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83760-B34D-1159-7A55-C61D5433748B}"/>
              </a:ext>
            </a:extLst>
          </p:cNvPr>
          <p:cNvSpPr txBox="1"/>
          <p:nvPr/>
        </p:nvSpPr>
        <p:spPr>
          <a:xfrm>
            <a:off x="548640" y="921197"/>
            <a:ext cx="1033526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The Solution: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Automate the process in one command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A5FFB7-B5ED-BC24-3531-969904227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207" y="1887666"/>
            <a:ext cx="6115986" cy="3356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3F9B87-14FB-ACE7-621F-0F56C2CC5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00" y="3570486"/>
            <a:ext cx="5267544" cy="1793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B386F6-8363-D735-2D5E-49AB01E7A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800" y="1683244"/>
            <a:ext cx="5267544" cy="188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7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885B57-92EB-E12E-24AD-F3C83F7F99A4}"/>
              </a:ext>
            </a:extLst>
          </p:cNvPr>
          <p:cNvSpPr/>
          <p:nvPr/>
        </p:nvSpPr>
        <p:spPr>
          <a:xfrm>
            <a:off x="1524000" y="0"/>
            <a:ext cx="32004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20625-944A-CD2D-C083-FB2D311EEE0A}"/>
              </a:ext>
            </a:extLst>
          </p:cNvPr>
          <p:cNvSpPr txBox="1"/>
          <p:nvPr/>
        </p:nvSpPr>
        <p:spPr>
          <a:xfrm>
            <a:off x="1524000" y="2011680"/>
            <a:ext cx="3200400" cy="137160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6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ea typeface="+mn-ea"/>
                <a:cs typeface="+mn-cs"/>
              </a:rPr>
              <a:t>0</a:t>
            </a:r>
            <a:r>
              <a:rPr lang="en-US" sz="9600" b="1" dirty="0">
                <a:solidFill>
                  <a:srgbClr val="FF9900"/>
                </a:solidFill>
              </a:rPr>
              <a:t>3</a:t>
            </a:r>
            <a:endParaRPr kumimoji="0" sz="9600" b="1" i="0" u="none" strike="noStrike" kern="120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1B548B-C028-D11A-E80C-955C622BC3DB}"/>
              </a:ext>
            </a:extLst>
          </p:cNvPr>
          <p:cNvSpPr txBox="1"/>
          <p:nvPr/>
        </p:nvSpPr>
        <p:spPr>
          <a:xfrm>
            <a:off x="5181600" y="22860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GCO MCP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468DDB-7910-85CC-2F6B-C17067D7B55B}"/>
              </a:ext>
            </a:extLst>
          </p:cNvPr>
          <p:cNvSpPr txBox="1"/>
          <p:nvPr/>
        </p:nvSpPr>
        <p:spPr>
          <a:xfrm>
            <a:off x="5181600" y="31089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Access to </a:t>
            </a:r>
            <a:r>
              <a:rPr lang="en-US" sz="1600" dirty="0"/>
              <a:t>over 110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different tools that can be used by agents and organized context for all files and documentation in the codebase.</a:t>
            </a:r>
          </a:p>
        </p:txBody>
      </p:sp>
    </p:spTree>
    <p:extLst>
      <p:ext uri="{BB962C8B-B14F-4D97-AF65-F5344CB8AC3E}">
        <p14:creationId xmlns:p14="http://schemas.microsoft.com/office/powerpoint/2010/main" val="1151728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171C2B-FFDB-82F3-3563-B8E5BA1A9C10}"/>
              </a:ext>
            </a:extLst>
          </p:cNvPr>
          <p:cNvSpPr txBox="1"/>
          <p:nvPr/>
        </p:nvSpPr>
        <p:spPr>
          <a:xfrm>
            <a:off x="548640" y="274320"/>
            <a:ext cx="1070356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Use the MCP wherever the MCP protocol is supported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89A2BD-5B45-6F85-0FF4-9812E3BFAF08}"/>
              </a:ext>
            </a:extLst>
          </p:cNvPr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1AB477-A3C3-1F13-5415-C7563091B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122" y="5304460"/>
            <a:ext cx="4090595" cy="446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A1E484-6C92-ED62-412C-0D5A31606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74" y="1233969"/>
            <a:ext cx="10870852" cy="3750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8B3702-367C-4934-545E-0FE56F71A3A9}"/>
              </a:ext>
            </a:extLst>
          </p:cNvPr>
          <p:cNvSpPr txBox="1"/>
          <p:nvPr/>
        </p:nvSpPr>
        <p:spPr>
          <a:xfrm>
            <a:off x="4572001" y="5885611"/>
            <a:ext cx="211577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Using the MCP in Kiro</a:t>
            </a:r>
          </a:p>
        </p:txBody>
      </p:sp>
    </p:spTree>
    <p:extLst>
      <p:ext uri="{BB962C8B-B14F-4D97-AF65-F5344CB8AC3E}">
        <p14:creationId xmlns:p14="http://schemas.microsoft.com/office/powerpoint/2010/main" val="2782694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104358-EC91-E04F-63B5-860D074309EF}"/>
              </a:ext>
            </a:extLst>
          </p:cNvPr>
          <p:cNvSpPr txBox="1"/>
          <p:nvPr/>
        </p:nvSpPr>
        <p:spPr>
          <a:xfrm>
            <a:off x="548640" y="274320"/>
            <a:ext cx="1070356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Many supported tools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EE2029-A216-FB56-4942-041FBFBFF060}"/>
              </a:ext>
            </a:extLst>
          </p:cNvPr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87E151-B945-7991-CDF0-1C5EEB92E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87" y="1010209"/>
            <a:ext cx="3082066" cy="1327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78D4EC-7CC6-A5CA-88A7-E388A617A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84578"/>
            <a:ext cx="3082066" cy="11105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81AC1F-8384-5C2A-CC8C-98B143C72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55" y="4002823"/>
            <a:ext cx="3092651" cy="14548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7E0400-1474-3FF0-097E-95F9A7226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4580" y="1010209"/>
            <a:ext cx="3331280" cy="18212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B94385-FC1C-C487-60E1-9384EABC09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555" y="3083249"/>
            <a:ext cx="3322255" cy="30228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5D8115-19F1-BA4A-58F7-5297A44A57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3182" y="3363771"/>
            <a:ext cx="3564515" cy="27989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A862B3-DC9F-F8FB-6E32-D20E01C4C9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3182" y="967564"/>
            <a:ext cx="4306731" cy="233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40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DDF38F-A4D6-15AF-E370-7242E556320E}"/>
              </a:ext>
            </a:extLst>
          </p:cNvPr>
          <p:cNvSpPr txBox="1"/>
          <p:nvPr/>
        </p:nvSpPr>
        <p:spPr>
          <a:xfrm>
            <a:off x="548640" y="274320"/>
            <a:ext cx="1070356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Make Agents an Expert in the Codebase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FB9E9B-1216-31AE-AC98-32C6A6C7E669}"/>
              </a:ext>
            </a:extLst>
          </p:cNvPr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8D3C8-7B22-FA35-5B71-FC06AEFCF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220" y="1048031"/>
            <a:ext cx="7772400" cy="542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11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D27A8D-91F9-12D9-276F-BA73F679AECB}"/>
              </a:ext>
            </a:extLst>
          </p:cNvPr>
          <p:cNvSpPr txBox="1"/>
          <p:nvPr/>
        </p:nvSpPr>
        <p:spPr>
          <a:xfrm>
            <a:off x="548639" y="274320"/>
            <a:ext cx="11325113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Capacity Scanning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570FFC-9514-1927-230C-7455051EF43F}"/>
              </a:ext>
            </a:extLst>
          </p:cNvPr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8BAFFC-F37B-B88C-E74C-5F75823B1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04" y="3542752"/>
            <a:ext cx="6830733" cy="3111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1074DF-6742-F241-FD0C-2D0ECB9DD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41" y="184051"/>
            <a:ext cx="7337612" cy="33319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9831EF-8AC2-9CE3-1D56-1399345EBF84}"/>
              </a:ext>
            </a:extLst>
          </p:cNvPr>
          <p:cNvSpPr txBox="1"/>
          <p:nvPr/>
        </p:nvSpPr>
        <p:spPr>
          <a:xfrm>
            <a:off x="1106693" y="1476545"/>
            <a:ext cx="2541494" cy="14773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Solve complex capacity planning problems using nothing but natural language!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E2BBAF-896F-DE79-BB44-D4B0C61867CE}"/>
              </a:ext>
            </a:extLst>
          </p:cNvPr>
          <p:cNvSpPr txBox="1"/>
          <p:nvPr/>
        </p:nvSpPr>
        <p:spPr>
          <a:xfrm>
            <a:off x="8588002" y="4221525"/>
            <a:ext cx="2541494" cy="14773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Combining knowledge of the codebase and capacity is where things get really interesting!</a:t>
            </a:r>
          </a:p>
        </p:txBody>
      </p:sp>
    </p:spTree>
    <p:extLst>
      <p:ext uri="{BB962C8B-B14F-4D97-AF65-F5344CB8AC3E}">
        <p14:creationId xmlns:p14="http://schemas.microsoft.com/office/powerpoint/2010/main" val="31422791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FB515A-0511-D281-FD81-1ECAD53C5243}"/>
              </a:ext>
            </a:extLst>
          </p:cNvPr>
          <p:cNvSpPr txBox="1"/>
          <p:nvPr/>
        </p:nvSpPr>
        <p:spPr>
          <a:xfrm>
            <a:off x="548639" y="274320"/>
            <a:ext cx="11325113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Combining MCP Capabilities to Automate Entire Workflows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41A9B7-4FB8-23EA-F619-257978F60A66}"/>
              </a:ext>
            </a:extLst>
          </p:cNvPr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20904B-344C-9678-0292-2FFB09D4A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6299"/>
            <a:ext cx="6324669" cy="51913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E1E3E3-8CA6-EF58-AD81-330713302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845" y="1556879"/>
            <a:ext cx="4266143" cy="403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4843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4B9E56-6926-36DB-2C49-8998BE206CA2}"/>
              </a:ext>
            </a:extLst>
          </p:cNvPr>
          <p:cNvSpPr txBox="1"/>
          <p:nvPr/>
        </p:nvSpPr>
        <p:spPr>
          <a:xfrm>
            <a:off x="548640" y="274320"/>
            <a:ext cx="1070356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Simple Setup and Optional Capacity Purchasing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008FF-23ED-604E-DDC1-E5B1FEE42998}"/>
              </a:ext>
            </a:extLst>
          </p:cNvPr>
          <p:cNvSpPr/>
          <p:nvPr/>
        </p:nvSpPr>
        <p:spPr>
          <a:xfrm>
            <a:off x="548640" y="868680"/>
            <a:ext cx="1828800" cy="50800"/>
          </a:xfrm>
          <a:prstGeom prst="rect">
            <a:avLst/>
          </a:prstGeom>
          <a:solidFill>
            <a:srgbClr val="FF99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8AFD8-50C7-C6E3-0363-6AD4BFD6E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986" y="1213086"/>
            <a:ext cx="3205331" cy="2293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1FBAF3-439E-691D-59D3-27EA00C33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821" y="1193800"/>
            <a:ext cx="6707839" cy="22583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BB6FD5-A5D3-660A-5813-FEF3C30D7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945" y="3597577"/>
            <a:ext cx="7772400" cy="298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800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9E757-D52C-7C07-0F0C-AB53938480CB}"/>
              </a:ext>
            </a:extLst>
          </p:cNvPr>
          <p:cNvSpPr/>
          <p:nvPr/>
        </p:nvSpPr>
        <p:spPr>
          <a:xfrm>
            <a:off x="1510553" y="0"/>
            <a:ext cx="320040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84E5A3-7942-3713-E676-732BABD4F77A}"/>
              </a:ext>
            </a:extLst>
          </p:cNvPr>
          <p:cNvSpPr txBox="1"/>
          <p:nvPr/>
        </p:nvSpPr>
        <p:spPr>
          <a:xfrm>
            <a:off x="1510553" y="1706880"/>
            <a:ext cx="3200400" cy="137160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0</a:t>
            </a:r>
            <a:r>
              <a:rPr lang="en-US" sz="9600" b="1" dirty="0">
                <a:solidFill>
                  <a:srgbClr val="FFFFFF"/>
                </a:solidFill>
              </a:rPr>
              <a:t>4</a:t>
            </a:r>
            <a:endParaRPr kumimoji="0" sz="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999A9-8544-F1B7-8676-24B1D37AE2F4}"/>
              </a:ext>
            </a:extLst>
          </p:cNvPr>
          <p:cNvSpPr txBox="1"/>
          <p:nvPr/>
        </p:nvSpPr>
        <p:spPr>
          <a:xfrm>
            <a:off x="5154706" y="2196353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Live Demo</a:t>
            </a: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&amp; FAQ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2984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08C47A-1DF9-2E7C-F601-DB47F1C74862}"/>
              </a:ext>
            </a:extLst>
          </p:cNvPr>
          <p:cNvSpPr/>
          <p:nvPr/>
        </p:nvSpPr>
        <p:spPr>
          <a:xfrm>
            <a:off x="1524000" y="2743200"/>
            <a:ext cx="9144000" cy="10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85423-C19D-CB9E-736B-C678645DA4DD}"/>
              </a:ext>
            </a:extLst>
          </p:cNvPr>
          <p:cNvSpPr txBox="1"/>
          <p:nvPr/>
        </p:nvSpPr>
        <p:spPr>
          <a:xfrm>
            <a:off x="1981200" y="1371600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D1BEDE-8551-7D94-6982-0AA888ACE9E0}"/>
              </a:ext>
            </a:extLst>
          </p:cNvPr>
          <p:cNvSpPr txBox="1"/>
          <p:nvPr/>
        </p:nvSpPr>
        <p:spPr>
          <a:xfrm>
            <a:off x="1981200" y="3017520"/>
            <a:ext cx="8229600" cy="109728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Jacob Mevorach
Senior Gen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erative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rtificial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ntelligence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Solutions Architect
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Frontier AI Team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724D9C-818B-088E-80CA-280DC7CE5BE1}"/>
              </a:ext>
            </a:extLst>
          </p:cNvPr>
          <p:cNvSpPr txBox="1"/>
          <p:nvPr/>
        </p:nvSpPr>
        <p:spPr>
          <a:xfrm>
            <a:off x="1981200" y="42976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  <a:hlinkClick r:id="rId2"/>
              </a:rPr>
              <a:t>https://www.jacobmevorach.com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8942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21238</TotalTime>
  <Words>2039</Words>
  <Application>Microsoft Macintosh PowerPoint</Application>
  <PresentationFormat>Widescreen</PresentationFormat>
  <Paragraphs>231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Amazon Ember Display</vt:lpstr>
      <vt:lpstr>Aptos</vt:lpstr>
      <vt:lpstr>Aptos Display</vt:lpstr>
      <vt:lpstr>Arial</vt:lpstr>
      <vt:lpstr>Calibri</vt:lpstr>
      <vt:lpstr>Office Theme</vt:lpstr>
      <vt:lpstr>Global Capacity Orchestrator</vt:lpstr>
      <vt:lpstr>Who am I?</vt:lpstr>
      <vt:lpstr>PowerPoint Presentation</vt:lpstr>
      <vt:lpstr>PowerPoint Presentation</vt:lpstr>
      <vt:lpstr>PowerPoint Presentation</vt:lpstr>
      <vt:lpstr>PowerPoint Presentation</vt:lpstr>
      <vt:lpstr>What is Global Capacity Orchestrator?</vt:lpstr>
      <vt:lpstr>Deploying with a single command!</vt:lpstr>
      <vt:lpstr>PowerPoint Presentation</vt:lpstr>
      <vt:lpstr>PowerPoint Presentation</vt:lpstr>
      <vt:lpstr>Inference Architecture</vt:lpstr>
      <vt:lpstr>PowerPoint Presentation</vt:lpstr>
      <vt:lpstr>Integrated Analytics Environment</vt:lpstr>
      <vt:lpstr>Webhooks and Templates</vt:lpstr>
      <vt:lpstr>Customizable Schedulers  (run multiple in combination or turn them all on) </vt:lpstr>
      <vt:lpstr>Multiple Job Submission Types</vt:lpstr>
      <vt:lpstr>Security in Depth</vt:lpstr>
      <vt:lpstr>Built-in KEDA Queue Processor</vt:lpstr>
      <vt:lpstr>In-built Cost Management Tools</vt:lpstr>
      <vt:lpstr>Monitoring From a Single Pane of Glass</vt:lpstr>
      <vt:lpstr>Powerful and Extensive API </vt:lpstr>
      <vt:lpstr>Capacity Finding Tools</vt:lpstr>
      <vt:lpstr>Comprehensive CI</vt:lpstr>
      <vt:lpstr>5 CDK Nag Conformance Packs</vt:lpstr>
      <vt:lpstr>PowerPoint Presentation</vt:lpstr>
      <vt:lpstr>GCO Auto Routing Capability #1:    Take my workload to the nearest region and don’t go to a region if it is already running too much stuff.</vt:lpstr>
      <vt:lpstr>PowerPoint Presentation</vt:lpstr>
      <vt:lpstr>PowerPoint Presentation</vt:lpstr>
      <vt:lpstr>GCO Auto Routing Capability #2:    Automatically determine the optimal region for my workload. </vt:lpstr>
      <vt:lpstr>PowerPoint Presentation</vt:lpstr>
      <vt:lpstr>GCO Auto Routing Capability #3:    Set up autoscaling, multi-region, latency minimized custom inference endpoints with automatic failover and IAM authentication using a single CLI command.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Mevorach, Jake</dc:creator>
  <cp:lastModifiedBy>Mevorach, Jake</cp:lastModifiedBy>
  <cp:revision>103</cp:revision>
  <cp:lastPrinted>2026-05-19T14:21:14Z</cp:lastPrinted>
  <dcterms:created xsi:type="dcterms:W3CDTF">2026-04-12T17:17:46Z</dcterms:created>
  <dcterms:modified xsi:type="dcterms:W3CDTF">2026-05-29T14:28:55Z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2026-04-12T17:18:55Z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335222e2-657c-4c14-b97b-a1ba89404b99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